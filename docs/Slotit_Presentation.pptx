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80" r:id="rId7"/>
    <p:sldId id="279" r:id="rId8"/>
    <p:sldId id="271" r:id="rId9"/>
    <p:sldId id="272" r:id="rId10"/>
    <p:sldId id="273" r:id="rId11"/>
    <p:sldId id="284" r:id="rId12"/>
    <p:sldId id="274" r:id="rId13"/>
    <p:sldId id="275" r:id="rId14"/>
    <p:sldId id="276" r:id="rId15"/>
    <p:sldId id="281" r:id="rId16"/>
    <p:sldId id="282" r:id="rId17"/>
    <p:sldId id="283" r:id="rId18"/>
    <p:sldId id="277" r:id="rId19"/>
    <p:sldId id="278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3T17:18:25.12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4915,'0'0'0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3T17:18:12.89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1 345 4915,'14'254'2542,"0"-10"-1225,-14-236-1288,0 1 37,0 0 0,1 0 0,-1 0 0,4 12 0,-4-20-50,0 0 0,1 0 0,-1 0 0,0 0-1,1 0 1,-1 0 0,0 0 0,1 0 0,-1 0 0,1-1 0,-1 1 0,1 0 0,0 0 0,-1 0 0,1 0 0,0-1-1,0 1 1,0 0 0,-1-1 0,1 1 0,0-1 0,0 1 0,0-1 0,0 1 0,0-1 0,0 0 0,0 1 0,0-1 0,0 0-1,0 0 1,0 0 0,0 0 0,0 0 0,0 0 0,0 0 0,1 0 0,-1 0 0,0 0 0,0 0 0,0-1 0,0 1-1,0 0 1,0-1 0,0 1 0,1-2 0,2 0-22,0-1-1,-1 0 1,1 0-1,0 0 1,-1 0-1,1 0 1,-1-1 0,0 0-1,-1 0 1,1 0-1,0 0 1,-1 0-1,0 0 1,0-1-1,0 1 1,-1-1 0,2-6-1,2-8-46,-1-1-1,2-34 1,-5-232-447,-4 133 204,3 133 245,-1-1-1,-1 0 0,0 0 1,-2 1-1,-8-28 0,-4-6-51,7 20 82,-17-41 0,20 69 277,3 15 12,1 21 156,2-28-389,0 33 197,2-1 0,1 1 0,8 37 0,34 103 572,-33-126-412,-3 0 0,3 54 0,-4-31-59,-1 4 121,-5-45-212,1-1 1,2 1 0,9 35 0,13 36 347,-27-101-588,0 0 1,0 0-1,0-1 1,1 1-1,-1 0 1,0-1 0,0 1-1,0 0 1,1-1-1,-1 1 1,0 0-1,1-1 1,-1 1 0,1-1-1,-1 1 1,0 0-1,1-1 1,-1 1-1,1-1 1,-1 0 0,2 1-1,5-9-137,2-28-88,20-83-338,-19 85 380,-1-1 1,6-59 0,-13-5-230,-2 59 330,-1 33 202,0 12 158,-45 258 1303,14-108-1126,20-70-277,8-50-32,-1 0 0,-2 0 0,-1 0-1,-23 60 1,29-94-162,2-5-21,1-16-79,5-26-134,1 14 146,39-157-684,-37 162 604,1 1 1,0 0-1,2 1 0,30-46 1,-11 30 72,67-66 0,-86 94 146,0 4 46,-1 0 0,1 1 0,0 0 0,1 1-1,0 0 1,0 1 0,16-5 0,24-13 161,18-12 356,144-53-1,-188 82-477,1 1-1,0 2 1,0 0-1,32 1 1,116 7 592,-162-3-629,139 12 480,58 2 4,-55-2 81,-40-2-322,-85-7-141,-1 1-1,52 15 1,-51-11-32,0-2 0,42 5 0,54-6 306,56 5 158,124 17 509,-181-18-926,175-8 1,-142-4-185,3 4-18,180-5 0,-247-10 0,5 0 0,124 12 0,-138 2 0,-65-3 0,0 0 0,0-1 0,-1-1 0,33-11 0,-25 7 0,41-7 0,19 7 0,154 8 0,-106 2 0,16-3 0,160 3 0,-190 11 0,30 1 0,-134-13 0,49 0 0,94 13 0,-86 0 0,-29-4 0,49 3 0,-64-10 0,0 2 0,46 14 0,-47-10 0,1-2 0,44 5 0,-15-8 0,91 10 0,-67-5 0,1-4 0,101-7 0,-54 0 0,181 2 0,-279 2 0,-34-2 0,0 0 0,1 0 0,-1 0 0,0 0 0,0 0 0,1 0 0,-1 0 0,0 0 0,1 0 0,-1 0 0,0 0 0,0 0 0,1 0 0,-1 0 0,0 1 0,0-1 0,1 0 0,-1 0 0,0 0 0,0 0 0,1 1 0,-1-1 0,0 0 0,0 0 0,0 1 0,0-1 0,1 0 0,-1 0 0,0 1 0,0-1 0,0 0 0,0 0 0,0 1 0,0-1 0,0 0 0,0 1 0,-8 9 0,-23 9 0,26-16 0,-56 37 0,2 3 0,-79 74 0,-31 25 0,139-123 0,-1 0 0,0-2 0,-2-1 0,0-2 0,-1-1 0,-36 9 0,22-9 0,-21 5 0,-85 35 0,109-37 0,-61 15 0,36-12 0,25-9 0,0-1 0,-1-3 0,0-2 0,-85-3 0,-4 1 0,11 11 0,-21 1 0,-116-16 0,-100 4 0,242 11 0,-32 1 0,127-14 0,1 2 0,-1 0 0,0 2 0,-37 10 0,24-4 0,0-2 0,-1-1 0,0-2 0,-65 1 0,28-8 0,-105-16 0,127 14 0,40 3 0,-1 1 0,1-2 0,0 0 0,-24-7 0,36 9-10,0 0 0,0 0 0,0-1 0,1 1 1,-1 0-1,0-1 0,1 1 0,-1-1 0,0 1 0,1-1 0,-1 0 1,0 1-1,1-1 0,-1 1 0,1-1 0,-1 0 0,1 0 0,0 1 1,-1-1-1,1 0 0,0 0 0,-1 1 0,1-1 0,0 0 0,0-1 0,0 0-17,0 0-1,0-1 0,0 1 0,1 0 1,-1 0-1,1 0 0,0 0 0,-1 0 0,1 0 1,1-2-1,5-6-154,0 0-1,15-18 1,-18 23 123,40-41-525,2 3 1,2 1-1,65-43 0,-89 68 440,123-77 110,-101 67 102,-26 17-5,1 0 1,1 2-1,41-12 0,-15 6 31,-18 5-40,1 1 1,0 2 0,0 1-1,1 2 1,-1 0 0,1 2-1,0 2 1,-1 1-1,1 1 1,46 11 0,114 45 223,-165-50-231,1-2 1,0 0-1,0-2 1,39 2-1,114-5 211,-132 0-136,66 10-1,26 1 77,501-12 702,-311-3-422,-316 2-470,0-1 0,0-1-1,0-1 1,0 0-1,-1-1 1,0 0-1,19-9 1,7-5-243,42-29 0,-55 30 190,0 1-1,1 2 1,1 1-1,33-11 1,53-16 82,16-4 4,-67 32-20,-45 9-8,0 0 0,37-13-1,-40 11-45,1-2 0,-2 1 0,1-2 0,-1 0-1,0-1 1,-1-1 0,0 0 0,24-22 0,-37 31 34,0 0 0,-1 1 0,1-1 0,0 0 0,-1 0 0,1 1 0,0-1 0,-1 0 0,1 0 0,-1 0 0,0 0 0,1 1 0,-1-1 0,1 0 0,-1 0 0,0 0 0,0 0 0,0 0 0,0 0 0,0 0 0,0 0 0,0 0 0,0 0 0,0 0 0,0 0 0,0 0 0,0 0 0,-1-1 0,0 0 1,-1 1-1,1 0 0,0 0 1,0 0-1,-1 0 0,1 0 1,-1 0-1,1 0 0,-1 0 1,0 0-1,1 1 0,-1-1 1,0 1-1,-2-1 0,-11-2 8,0 1-1,-29-1 0,38 3-5,-176 3 49,-46-2 19,132-14-36,-6-1 2,-395 12 123,256 4-83,-835-2 282,1077 0-358,38 1-1,0-2 0,0-2 0,0-1 1,43-11-1,-38 5 0,1 2 0,73-5 0,91 10 0,-187 4 0,-9-1 0,0 0 0,0-1 0,14-3 0,-17-1 0,-18 0 0,-21-1 0,-319-2 0,228 10 0,100-1 0,0 2 0,0 1 0,0 0 0,0 2 0,-36 14 0,28-9 0,-55 12 0,-27 6 0,80-19 0,0-2 0,-1-1 0,-39 4 0,-64-1 0,-200 8 0,-829-19 0,1139-1 0,-1-1 0,1 0 0,0-2 0,-28-9 0,24 5 0,-1 2 0,-38-4 0,-31 7 0,-39-5 0,31-1 0,-161 4 0,212 7 0,54-1 0,-42-3 0,26-5 0,17 7 0,0 1 0,-1 0 0,1-1 0,0 1 0,0-1 0,-1 1 0,1-1 0,0 1 0,0-1 0,0 1 0,0-1 0,0 1 0,0-1 0,0 1 0,0-1 0,0 1 0,0-1 0,0 1 0,0-1 0,0 1 0,0-1 0,1 1 0,-1 0 0,0-1 0,0 1 0,0-1 0,1 1 0,-1-1 0,0 1 0,0 0 0,1-1 0,0 0 0,6-6-59,2-1 0,-1 1 1,1 1-1,0-1 0,0 1 1,1 1-1,-1 0 0,16-6 0,-17 8 84,15-7-20,1 2-1,0 0 1,0 1 0,1 2-1,0 0 1,33-1-1,156 7 36,-97 2-17,48 11 13,-24-1-12,519-10 98,-340-5-62,-171 0-33,166 4 33,-205 11-38,14 0 0,-90-9-13,-1 1 0,0 2-1,56 18 1,-51-14-9,1 0 1,47 5-1,27-9 0,124-8 0,-83-1 0,857 2 0,-994-1 0,-1 0 0,1-1 0,-1 0 0,0-2 0,0 0 0,0-1 0,0 0 0,-1-1 0,21-11 0,-35 16 0,0 1 0,-1 0 0,1 0 0,0-1 0,-1 1 0,1 0 0,-1-1 0,1 1 0,0 0 0,-1-1 0,1 1 0,-1-1 0,1 1 0,-1-1 0,1 1 0,-1-1 0,0 0 0,1 1 0,-1-1 0,1 1 0,-1-1 0,0 0 0,0 1 0,1-1 0,-1 0 0,0 1 0,0-1 0,0 0 0,0 0 0,0 1 0,0-1 0,0-1 0,-1 1 0,0 0 0,0 0 0,0 0 0,-1 0 0,1 0 0,0 0 0,0 1 0,-1-1 0,1 0 0,-1 1 0,1-1 0,0 1 0,-1 0 0,-1-1 0,-54-6 0,32 6 0,1 1 0,0 1 0,0 1 0,0 1 0,0 1 0,1 1 0,-1 1 0,-33 13 0,7 4 0,32-14 0,0-1 0,-1 0 0,1-2 0,-2 0 0,1-1 0,-21 3 0,-240-6 0,140-5 0,111 6 0,0 0 0,1 2 0,0 2 0,0 0 0,-44 19 0,12-5 0,-29 13 0,55-20 0,-1-1 0,-38 8 0,24-8 0,-71 28 0,-21 7 0,98-34 0,0 2 0,1 1 0,-42 26 0,37-19 0,-83 32 0,22-12 0,3-1 0,-28 9 0,-30 9 0,91-39 0,25-6 0,-1-3 0,0-1 0,-87 9 0,-1-8 0,-42 2 0,-402-15 0,556 1 0,0 2 0,0 1 0,0 0 0,-28 11 0,23-7 0,0-1 0,-38 4 0,52-9 0,7-1 0,-1 0 0,1 0 0,-1-1 0,0 0 0,1-1 0,-1 0 0,1 0 0,-12-3 0,20 4-3,-1 0 0,1-1-1,-1 1 1,1 0 0,-1 0 0,1-1 0,0 1 0,-1 0 0,1-1-1,0 1 1,-1 0 0,1-1 0,0 1 0,-1 0 0,1-1-1,0 1 1,0-1 0,-1 1 0,1-1 0,0 1 0,0 0 0,0-1-1,0 1 1,0-1 0,0 1 0,0-1 0,0 1 0,0-1-1,0 1 1,0-1 0,0 1 0,0-1 0,0 1 0,0-1 0,0 1-1,0-1 1,0 1 0,1-1 0,10-16-271,-11 17 268,12-13-92,0 1 0,0 0 0,2 1 0,-1 0-1,1 2 1,1-1 0,0 2 0,0 0 0,19-8 0,11-1 126,1 2 1,51-10-1,-38 16 15,0 2 0,0 3-1,105 6 1,-57 1 11,-104-3-52,35 2 17,-37-2-17,0 0-1,0 0 0,0 0 1,-1 0-1,1 0 0,0 1 1,0-1-1,0 0 1,0 0-1,-1 0 0,1 1 1,0-1-1,0 1 1,0-1-1,-1 0 0,1 1 1,0-1-1,-1 1 1,1 0-1,0-1 0,-1 1 1,1-1-1,-1 1 0,1 0 1,-1 0-1,1-1 1,-1 1-1,1 0 0,-1 0 1,0-1-1,0 1 1,1 0-1,-1 0 0,0 0 1,0 0-1,0 0 1,0 1-1,-1-1 1,0 0 0,1 0-1,-1 1 1,0-1 0,0 0 0,0 0-1,0 0 1,0 0 0,0 0-1,0 0 1,-1 0 0,1-1 0,0 1-1,0 0 1,-1-1 0,1 1-1,0-1 1,-1 1 0,-1 0 0,-34 6 18,31-6-17,-35 4 24,-2-1 0,1-2 0,0-2 0,0-2 0,-70-12 0,94 7-8,18 7-17,0 0-1,0-1 0,0 1 0,-1 0 0,1 0 1,0 0-1,0-1 0,0 1 0,0 0 0,0 0 0,0-1 1,0 1-1,-1 0 0,1 0 0,0-1 0,0 1 1,0 0-1,0-1 0,0 1 0,0 0 0,0 0 1,0-1-1,0 1 0,1 0 0,-1 0 0,0-1 0,0 1 1,0 0-1,0 0 0,0-1 0,0 1 0,0 0 1,1 0-1,-1 0 0,0-1 0,3-1 7,0-1 0,0 1 1,0 0-1,1 0 0,-1 0 0,1 0 0,5-2 0,36-10 42,0 1-1,0 3 1,87-9-1,-33 6-1,-28 1-19,23-4 23,154-6-1,-246 21-49,1 1 1,-1 0-1,1 0 0,-1 1 0,1-1 1,-1 0-1,0 1 0,1-1 1,-1 1-1,4 2 0,-6-3-1,0 0 0,0 0 0,1 1 0,-1-1 0,0 0 0,0 0 0,1 1 0,-1-1-1,0 0 1,0 0 0,0 1 0,0-1 0,0 0 0,0 1 0,1-1 0,-1 0 0,0 1 0,0-1 0,0 0 0,0 1-1,0-1 1,0 0 0,0 1 0,0-1 0,0 1 0,-1-1 0,1 0 0,0 0 0,0 1 0,0-1 0,0 0 0,0 1-1,-1-1 1,1 0 0,0 1 0,0-1 0,0 0 0,-1 0 0,1 1 0,-5 3 7,1 0 0,0-1 0,-1 1 1,0-1-1,0 0 0,0 0 0,-6 2 0,-23 8 13,0-1-1,-1-1 1,0-2-1,0-2 0,-72 6 1,-190-12 9,148-3-35,-474 2 5,601-2 0,1 0 0,-1-2 0,0 0 0,-29-10 0,21 5 0,-37-6 0,-162-18 0,199 26 0,-1-1 0,-37-17 0,-38-10 0,53 23 0,-1 3 0,0 2 0,-96 0 0,126 5 0,0 0 0,1-2 0,-1 0 0,-27-10 0,22 6 0,1 1 0,-39-4 0,5 6 0,-190-20 0,225 20 0,-40-14 0,42 11 0,-49-8 0,-8 3 0,27 4 0,-80-2 0,102 11-36,19 1 48,0-1-1,0 0 1,1-1-1,-1-1 1,-18-4-1,28 5-33,1-1 0,-1 1 1,1-1-1,-1 1 0,1-1 0,0 0 1,-1-1-1,1 1 0,1 0 1,-1-1-1,0 0 0,0 0 0,1 1 1,0-2-1,-1 1 0,1 0 0,0 0 1,1-1-1,-1 1 0,1-1 0,-1 1 1,1-1-1,0 0 0,0-4 0,-3-18-254,1-1-1,1-35 1,-2-20-229,3 75 476,-1-3-76,1-1-1,0 0 0,1 0 1,0 0-1,3-22 0,-2 29 100,1 1 1,-1 0-1,0-1 1,1 1-1,0 0 1,0 0-1,0 0 0,0 0 1,0 0-1,0 1 1,1-1-1,-1 1 1,1-1-1,0 1 0,0 0 1,0 0-1,0 0 1,0 1-1,0-1 1,1 1-1,-1-1 1,4 0-1,8-3 24,1 2 0,-1-1 0,0 2 0,1 0 0,18 0 0,82 7 87,-51-1-43,-2-2 47,81 15 1,-96-11-13,78-1 0,-74-4-12,55 8 0,104 5 123,-110-10-104,20 9 23,28 0 26,232-12 230,-177-2-171,-201 1-210,30 3 47,-33-3-47,1 0 0,0 1 0,-1-1 1,1 0-1,-1 0 0,1 1 0,-1-1 0,1 0 0,-1 1 1,1-1-1,-1 0 0,1 1 0,-1-1 0,0 1 0,1-1 1,-1 1-1,0-1 0,1 1 0,-1-1 0,0 1 0,0-1 0,1 1 1,-1-1-1,0 1 0,0 0 0,0-1 0,0 1 0,0-1 1,0 1-1,0 0 0,0-1 0,0 1 0,0-1 0,0 1 1,0-1-1,0 1 0,0 0 0,-1-1 0,1 1 0,0-1 1,0 1-1,-1-1 0,1 1 0,0-1 0,-1 1 0,1-1 1,0 1-1,-1-1 0,1 1 0,-2 0 0,-14 17 38,0-1-1,-2-1 1,0 0 0,0-1-1,-28 16 1,12-7 14,-56 46 48,-44 31-64,114-89-39,0 0 1,-1-1 0,0-1-1,-1-1 1,-25 7 0,-39 10 0,1 4 0,-129 65 0,184-82 0,0 0 0,-62 15 0,87-28 0,-1 1 0,1-2 0,0 1 0,-1-1 0,1 1 0,-1-2 0,1 1 0,0 0 0,0-1 0,0 0 0,0 0 0,0-1 0,0 0 0,0 1 0,-4-5 0,-34-15 0,20 16 0,-1 0 0,0 2 0,0 1 0,-27-1 0,-102 7 0,62-1 0,42-2 0,19-1 0,0 1 0,0 2 0,0 1 0,0 1 0,-38 10 0,41-5 0,0-2 0,-1 0 0,0-3 0,0 0 0,0-1 0,-36-2 0,64-1 0,0 0 0,0 0 0,0 0 0,0 0-1,-1 0 1,1 0 0,0 0 0,0 0 0,0 0 0,0 0 0,0 0 0,0 0 0,-1 0 0,1 0-1,0 0 1,0 0 0,0 0 0,0 0 0,0 0 0,-1 0 0,1-1 0,0 1 0,0 0 0,0 0 0,0 0-1,0 0 1,0 0 0,0 0 0,0 0 0,0 0 0,-1-1 0,1 1 0,0 0 0,0 0 0,0 0 0,0 0-1,0 0 1,0-1 0,0 1 0,0 0 0,0 0 0,0 0 0,0 0 0,0 0 0,0 0 0,0-1-1,0 1 1,0 0 0,0 0 0,0 0 0,0 0 0,0 0 0,0-1 0,0 1 0,1 0 0,8-10-96,19-11-212,-25 19 250,251-160-1355,-180 114 1460,-39 26-225,-1-2-1,31-27 0,17-26-598,39-34-277,-101 95 1012,1 0 1,0 2-1,1 1 1,34-15-1,-30 15 103,1 2 0,0 1 0,1 1 0,0 2 0,0 1 0,42-5 0,78-1 193,57-2 95,-137 15-267,-26 0 25,1-1 0,0-2 1,-1-2-1,56-12 1,-78 10-67,-8 2-17,-1 1-1,1 0 1,0 1-1,0 0 1,0 1-1,12 0 1,-20 3 65,-9 3 25,-24 12 46,-1-2 0,-35 13 0,-5 2-39,-148 84 121,178-90-157,2 2 0,0 2 0,-42 41 0,34-24 22,46-45-104,-1 0 1,1 1-1,-1-1 1,1 0 0,0 1-1,-1-1 1,1 0-1,0 1 1,-1-1-1,1 1 1,0-1-1,0 0 1,-1 1-1,1-1 1,0 1 0,0-1-1,0 1 1,-1-1-1,1 1 1,0-1-1,0 1 1,0-1-1,0 1 1,0-1-1,0 1 1,0-1 0,0 1-1,0-1 1,1 1-1,-1-1 1,0 1-1,0-1 1,0 1-1,1-1 1,-1 1 0,0-1-1,0 0 1,1 1-1,-1-1 1,0 1-1,1-1 1,-1 0-1,0 1 1,1-1-1,-1 0 1,1 0 0,-1 1-1,0-1 1,1 0-1,-1 0 1,1 1-1,-1-1 1,1 0-1,-1 0 1,1 0-1,0 0 1,33 5 128,-30-5-124,48 4 112,-1-3 0,91-9 0,-128 3-19,-12-3 1,-4 6-108,1 0-1,-1 0 1,1 0-1,-1 0 1,0 1-1,0-1 1,0 0-1,0 1 0,-4-3 1,-19-10-321,-1 1-1,0 1 1,-35-11 0,-90-22 205,111 34 143,-234-40 96,235 46-89,33 4-19,1 0 1,-1 0-1,1 0 0,-1-1 1,-8-3-1,14 4-7,-1 1 0,1 0 0,-1 0 0,1 0 0,0-1 0,-1 1 0,1 0 0,-1-1 0,1 1 0,0 0 0,-1-1 0,1 1 0,0-1 0,0 1 0,-1-1 0,1 1 0,0 0 0,0-1 0,0 1 0,-1-1 0,1 1 0,0-1 0,0 1 0,0-1 0,0 1 0,0-1 0,0 1 0,0-2-1,1 1 4,0 0-1,-1-1 1,1 1-1,0-1 1,0 1-1,0 0 1,0 0-1,0-1 1,1 1-1,-1 0 1,0 0-1,0 0 1,1 0-1,1 0 1,17-10-155,1 1-1,0 1 1,1 1 0,36-8 0,-52 14 119,89-21 85,0 4-1,128-9 0,202 9 314,-245 14-239,418-28 385,166-2 249,0 34-585,-429 2-198,1062 1 21,-1375 0 0,-1 1 0,0 0 0,0 2 0,-1 0 0,1 1 0,-1 1 0,32 16 0,-47-20 0,1-1 0,-1 1 0,0 0 0,0 0 0,0 1 0,6 5 0,-10-8 0,0 0 0,0 1 0,1-1 0,-2 0 0,1 1 0,0-1 0,0 1 0,0-1 0,-1 1 0,1-1 0,-1 1 0,1 0 0,-1-1 0,1 1 0,-1 0 0,0-1 0,0 1 0,0 0 0,0 0 0,0-1 0,-1 1 0,1 0 0,0-1 0,-1 1 0,1-1 0,-2 3 0,-5 10 0,-1-1 0,-1 0 0,0 0 0,0-1 0,-1-1 0,-1 1 0,0-2 0,-17 14 0,-26 27 0,53-51 0,1 1 0,0-1 0,-1 0 0,1 0 0,0 1-1,-1-1 1,1 0 0,0 1 0,-1-1 0,1 0 0,0 1 0,0-1 0,-1 0 0,1 1 0,0-1 0,0 1 0,0-1 0,0 0 0,0 1-1,-1-1 1,1 1 0,0-1 0,0 1 0,0-1 0,0 1 0,0-1 0,0 0 0,0 1 0,0-1 0,1 1 0,-1-1 0,0 1 0,0-1-1,15 3 7,28-12-94,91-40-359,-107 36 458,1 2 0,1 1 0,-1 1 0,1 1 0,1 1 0,40-3 0,199 13 40,-262-3-49,0 0 0,0 1-1,0-1 1,0 1 0,-1 1 0,1-1-1,0 1 1,0 0 0,-1 1-1,1 0 1,-1 0 0,0 0-1,0 0 1,0 1 0,0 0 0,-1 1-1,0-1 1,0 1 0,0 0-1,0 0 1,-1 0 0,1 1-1,4 8 1,30 42 11,-5-11 5,-2 2-1,36 74 0,-61-106-14,0 0 1,-1 0 0,-1 1 0,-1 0 0,0 0-1,-1 1 1,0-1 0,-2 1 0,0-1-1,-1 1 1,0-1 0,-6 34 0,4-45-2,1 0 0,-1 0 0,0 0 0,-1 0 0,1 0 0,-1-1 1,0 1-1,0-1 0,0 1 0,-1-1 0,1 0 0,-1 0 1,0-1-1,0 1 0,-1-1 0,-4 3 0,-10 6 8,-1-2 1,-35 14-1,26-13-3,-132 55 61,-264 72 0,-180-16-26,451-103-44,-308-1 1,-144-63 1,462 18 0,90 15 0,-98-8 0,-275 21 0,309 11 0,-34 3 0,-353-16 0,451-2 0,-1-2 0,-72-17 0,90 15 0,-1-3 0,-60-21 0,1-1 0,33 16 0,0 4 0,-78-6 0,-132 10 0,-716 9 0,543-2 0,412 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9D845C-F932-4AA2-9753-4814E0F70CC6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1D8113-CA6B-4E0E-9082-1F3ACB6E9A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39880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1D8113-CA6B-4E0E-9082-1F3ACB6E9AE7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98606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DEC014E-32E8-BC91-190E-85B3C74C9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8" y="964075"/>
            <a:ext cx="4654297" cy="3739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0" y="4822842"/>
            <a:ext cx="4206240" cy="1380744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2603722-CE80-C718-39E9-BB79F1F68C3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84C280F-E753-FE97-A722-F86168AC97B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41248" y="964074"/>
            <a:ext cx="5403280" cy="5258929"/>
          </a:xfrm>
          <a:custGeom>
            <a:avLst/>
            <a:gdLst>
              <a:gd name="connsiteX0" fmla="*/ 2701640 w 5403280"/>
              <a:gd name="connsiteY0" fmla="*/ 0 h 5258929"/>
              <a:gd name="connsiteX1" fmla="*/ 5403280 w 5403280"/>
              <a:gd name="connsiteY1" fmla="*/ 2701640 h 5258929"/>
              <a:gd name="connsiteX2" fmla="*/ 5403280 w 5403280"/>
              <a:gd name="connsiteY2" fmla="*/ 5258929 h 5258929"/>
              <a:gd name="connsiteX3" fmla="*/ 0 w 5403280"/>
              <a:gd name="connsiteY3" fmla="*/ 5258929 h 5258929"/>
              <a:gd name="connsiteX4" fmla="*/ 0 w 5403280"/>
              <a:gd name="connsiteY4" fmla="*/ 2701640 h 5258929"/>
              <a:gd name="connsiteX5" fmla="*/ 2701640 w 5403280"/>
              <a:gd name="connsiteY5" fmla="*/ 0 h 5258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03280" h="5258929">
                <a:moveTo>
                  <a:pt x="2701640" y="0"/>
                </a:moveTo>
                <a:cubicBezTo>
                  <a:pt x="4193715" y="0"/>
                  <a:pt x="5403280" y="1209565"/>
                  <a:pt x="5403280" y="2701640"/>
                </a:cubicBezTo>
                <a:lnTo>
                  <a:pt x="5403280" y="5258929"/>
                </a:lnTo>
                <a:lnTo>
                  <a:pt x="0" y="5258929"/>
                </a:lnTo>
                <a:lnTo>
                  <a:pt x="0" y="2701640"/>
                </a:lnTo>
                <a:cubicBezTo>
                  <a:pt x="0" y="1209565"/>
                  <a:pt x="1209565" y="0"/>
                  <a:pt x="2701640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6350">
            <a:noFill/>
          </a:ln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117A08-C834-F239-A3DF-2D1295F0AE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7E80C6A5-61FE-078D-49D9-31BD1294014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5902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E6C4595-90D4-94E6-CEBA-82807457D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1658679"/>
            <a:ext cx="10780776" cy="492500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1989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5218032"/>
            <a:ext cx="10972800" cy="786384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5972629"/>
            <a:ext cx="10972800" cy="480373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4986425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88BD73-E6AB-68A9-F41B-313E0C44777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>
            <a:off x="-396119" y="5787191"/>
            <a:ext cx="15034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AA6162-61A3-2C41-311C-F407FC4B4DA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DABF624-39B6-C7A2-98E7-26593626B4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498994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6B102F-64E7-9387-1F8F-DB4AC825773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5339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E84C31D-CC85-27E5-FD9F-627C926D5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78608"/>
            <a:ext cx="7879335" cy="3592629"/>
          </a:xfrm>
        </p:spPr>
        <p:txBody>
          <a:bodyPr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10B934F-7AD0-6CA4-BC4D-9CC30854B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171450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FF6486-38AE-54F6-E2F3-8B944C3F1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41BD916-71AE-106E-105D-01655950FC4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987800" y="368300"/>
            <a:ext cx="7375525" cy="1014413"/>
          </a:xfrm>
        </p:spPr>
        <p:txBody>
          <a:bodyPr anchor="ctr">
            <a:normAutofit/>
          </a:bodyPr>
          <a:lstStyle>
            <a:lvl1pPr algn="r"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FD0054-227E-4953-9BB1-7141F9024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42E0F1-15E9-E241-9959-A6D46B69E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7370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5842852-3CDE-22AD-D5F0-AAF8279A0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9536"/>
            <a:ext cx="9546336" cy="3675885"/>
          </a:xfrm>
        </p:spPr>
        <p:txBody>
          <a:bodyPr anchor="t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4D523C5-E38D-F0DE-48C0-B6B8404B6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514350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93528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C4EF7E11-76D4-64FA-465B-165405450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947" y="1296083"/>
            <a:ext cx="4353325" cy="4265835"/>
          </a:xfrm>
          <a:custGeom>
            <a:avLst/>
            <a:gdLst>
              <a:gd name="connsiteX0" fmla="*/ 2176663 w 4353325"/>
              <a:gd name="connsiteY0" fmla="*/ 0 h 4265835"/>
              <a:gd name="connsiteX1" fmla="*/ 4353325 w 4353325"/>
              <a:gd name="connsiteY1" fmla="*/ 2176662 h 4265835"/>
              <a:gd name="connsiteX2" fmla="*/ 4353325 w 4353325"/>
              <a:gd name="connsiteY2" fmla="*/ 2712923 h 4265835"/>
              <a:gd name="connsiteX3" fmla="*/ 4353325 w 4353325"/>
              <a:gd name="connsiteY3" fmla="*/ 3733873 h 4265835"/>
              <a:gd name="connsiteX4" fmla="*/ 4353325 w 4353325"/>
              <a:gd name="connsiteY4" fmla="*/ 4265835 h 4265835"/>
              <a:gd name="connsiteX5" fmla="*/ 0 w 4353325"/>
              <a:gd name="connsiteY5" fmla="*/ 4265835 h 4265835"/>
              <a:gd name="connsiteX6" fmla="*/ 0 w 4353325"/>
              <a:gd name="connsiteY6" fmla="*/ 3733873 h 4265835"/>
              <a:gd name="connsiteX7" fmla="*/ 0 w 4353325"/>
              <a:gd name="connsiteY7" fmla="*/ 2712923 h 4265835"/>
              <a:gd name="connsiteX8" fmla="*/ 0 w 4353325"/>
              <a:gd name="connsiteY8" fmla="*/ 2176662 h 4265835"/>
              <a:gd name="connsiteX9" fmla="*/ 2176663 w 4353325"/>
              <a:gd name="connsiteY9" fmla="*/ 0 h 4265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53325" h="4265835">
                <a:moveTo>
                  <a:pt x="2176663" y="0"/>
                </a:moveTo>
                <a:cubicBezTo>
                  <a:pt x="3378800" y="0"/>
                  <a:pt x="4353325" y="974525"/>
                  <a:pt x="4353325" y="2176662"/>
                </a:cubicBezTo>
                <a:lnTo>
                  <a:pt x="4353325" y="2712923"/>
                </a:lnTo>
                <a:lnTo>
                  <a:pt x="4353325" y="3733873"/>
                </a:lnTo>
                <a:lnTo>
                  <a:pt x="4353325" y="4265835"/>
                </a:lnTo>
                <a:lnTo>
                  <a:pt x="0" y="4265835"/>
                </a:lnTo>
                <a:lnTo>
                  <a:pt x="0" y="3733873"/>
                </a:lnTo>
                <a:lnTo>
                  <a:pt x="0" y="2712923"/>
                </a:lnTo>
                <a:lnTo>
                  <a:pt x="0" y="2176662"/>
                </a:lnTo>
                <a:cubicBezTo>
                  <a:pt x="0" y="974525"/>
                  <a:pt x="974525" y="0"/>
                  <a:pt x="2176663" y="0"/>
                </a:cubicBezTo>
                <a:close/>
              </a:path>
            </a:pathLst>
          </a:custGeom>
          <a:ln w="6350">
            <a:solidFill>
              <a:schemeClr val="tx1"/>
            </a:solidFill>
          </a:ln>
        </p:spPr>
        <p:txBody>
          <a:bodyPr wrap="square" lIns="182880" tIns="914400" rIns="182880" anchor="ctr" anchorCtr="0">
            <a:noAutofit/>
          </a:bodyPr>
          <a:lstStyle>
            <a:lvl1pPr algn="ctr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535056" y="1296083"/>
            <a:ext cx="4325112" cy="4265835"/>
          </a:xfrm>
        </p:spPr>
        <p:txBody>
          <a:bodyPr anchor="b" anchorCtr="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0128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05B5E-C545-4763-BA47-4C2C0FCA5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0704" y="4608576"/>
            <a:ext cx="4169664" cy="1609344"/>
          </a:xfrm>
        </p:spPr>
        <p:txBody>
          <a:bodyPr anchor="t" anchorCtr="0">
            <a:noAutofit/>
          </a:bodyPr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9D23AA-8F22-4B09-8FAA-CD16E5D66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E5AAB3D-814D-597A-6ADE-F522A8116DCD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1257301" y="1097280"/>
            <a:ext cx="3776470" cy="3168100"/>
          </a:xfrm>
          <a:custGeom>
            <a:avLst/>
            <a:gdLst>
              <a:gd name="connsiteX0" fmla="*/ 1888235 w 3776470"/>
              <a:gd name="connsiteY0" fmla="*/ 0 h 3168100"/>
              <a:gd name="connsiteX1" fmla="*/ 3776470 w 3776470"/>
              <a:gd name="connsiteY1" fmla="*/ 1888235 h 3168100"/>
              <a:gd name="connsiteX2" fmla="*/ 3776470 w 3776470"/>
              <a:gd name="connsiteY2" fmla="*/ 3168100 h 3168100"/>
              <a:gd name="connsiteX3" fmla="*/ 0 w 3776470"/>
              <a:gd name="connsiteY3" fmla="*/ 3168100 h 3168100"/>
              <a:gd name="connsiteX4" fmla="*/ 0 w 3776470"/>
              <a:gd name="connsiteY4" fmla="*/ 1888235 h 3168100"/>
              <a:gd name="connsiteX5" fmla="*/ 1888235 w 3776470"/>
              <a:gd name="connsiteY5" fmla="*/ 0 h 316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76470" h="3168100">
                <a:moveTo>
                  <a:pt x="1888235" y="0"/>
                </a:moveTo>
                <a:cubicBezTo>
                  <a:pt x="2931078" y="0"/>
                  <a:pt x="3776470" y="845392"/>
                  <a:pt x="3776470" y="1888235"/>
                </a:cubicBezTo>
                <a:lnTo>
                  <a:pt x="3776470" y="3168100"/>
                </a:lnTo>
                <a:lnTo>
                  <a:pt x="0" y="3168100"/>
                </a:lnTo>
                <a:lnTo>
                  <a:pt x="0" y="1888235"/>
                </a:lnTo>
                <a:cubicBezTo>
                  <a:pt x="0" y="845392"/>
                  <a:pt x="845392" y="0"/>
                  <a:pt x="1888235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6350">
            <a:solidFill>
              <a:schemeClr val="tx1"/>
            </a:solidFill>
          </a:ln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A263F8-8E34-4910-BF7A-F1C5A99689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41464" y="841248"/>
            <a:ext cx="4215384" cy="5330952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  <a:lvl2pPr algn="ctr">
              <a:defRPr>
                <a:solidFill>
                  <a:schemeClr val="tx1"/>
                </a:solidFill>
              </a:defRPr>
            </a:lvl2pPr>
            <a:lvl3pPr algn="ctr">
              <a:defRPr>
                <a:solidFill>
                  <a:schemeClr val="tx1"/>
                </a:solidFill>
              </a:defRPr>
            </a:lvl3pPr>
            <a:lvl4pPr algn="ctr">
              <a:defRPr>
                <a:solidFill>
                  <a:schemeClr val="tx1"/>
                </a:solidFill>
              </a:defRPr>
            </a:lvl4pPr>
            <a:lvl5pPr algn="ctr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6E74E5-D20D-4AB7-8D98-F336CE0EC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E8A028-A0C8-45E7-915E-B83FF59C9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054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4" y="2615184"/>
            <a:ext cx="3813048" cy="3557016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841248"/>
            <a:ext cx="4956175" cy="3556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F4378AB-83E7-8777-F6CD-8F19BA4FEE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5016203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28892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841248"/>
            <a:ext cx="2999232" cy="5184648"/>
          </a:xfrm>
        </p:spPr>
        <p:txBody>
          <a:bodyPr anchor="t" anchorCtr="0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66926" y="841248"/>
            <a:ext cx="6260154" cy="518464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8293A07-68F2-BD10-B738-E87F3F3D8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418221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77160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1152" y="990511"/>
            <a:ext cx="2565593" cy="1858941"/>
          </a:xfrm>
        </p:spPr>
        <p:txBody>
          <a:bodyPr anchor="b"/>
          <a:lstStyle>
            <a:lvl1pPr>
              <a:defRPr lang="en-US" sz="32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8326323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32271" y="3011335"/>
            <a:ext cx="2559977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8BD5A515-9970-0784-7927-52F94C270B4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5400000">
            <a:off x="10292564" y="1592958"/>
            <a:ext cx="2973522" cy="36512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8523CCEC-6BB2-B704-95E2-87FED823C5B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1208465C-8C77-73BF-D18F-D01907BAC86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12296" y="6356350"/>
            <a:ext cx="574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0E2A219-E459-07B3-1ED3-CBF7D239BE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32057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24303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0" y="548640"/>
            <a:ext cx="6093225" cy="1143000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793885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03520" y="1828800"/>
            <a:ext cx="6071616" cy="448970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F483F68-3490-71E7-A7DA-DA46BC485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797154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345FA4-0621-D8F1-73D0-046B7F4D7713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4C51678-E871-8AD4-08DA-BF7B7013A35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10292565" y="1592957"/>
            <a:ext cx="297352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CD01CE4-E064-7D2F-7D3A-9DA85E2777F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4271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48640"/>
            <a:ext cx="6135624" cy="1143000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828800"/>
            <a:ext cx="6135624" cy="448970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400544" y="0"/>
            <a:ext cx="4791456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BC07157-DE89-FE2F-0547-2E4055913A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382022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A0C5A-6673-53CC-030B-67BA133D9741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2521688-F793-E4F2-732B-EEE6F58B758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DBE29E-7417-B57C-BA94-1DBC14BE461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3460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20040"/>
            <a:ext cx="6858000" cy="932688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380744"/>
            <a:ext cx="6858000" cy="49834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C626C00-7A36-46A2-880D-F484910B34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077761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FF6D8B-36A2-DF79-CDB9-885694DCA71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A2396A-E38F-CC9C-7303-71F99D08208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3B0E4B-031C-4F2A-1993-D824DD71F7D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4337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83413"/>
            <a:ext cx="4361688" cy="1262639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979461"/>
            <a:ext cx="4360863" cy="432926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45480" y="0"/>
            <a:ext cx="6446520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81977D-48BC-F135-96F9-1655E4BEE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732126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EA981C2C-E0DD-29A7-8209-50D66488152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205369F-8CCB-402F-9055-2BF12262B54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33591F2-4BD3-37D0-B00E-B2CD5F47A36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1511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20040"/>
            <a:ext cx="4572000" cy="932688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380744"/>
            <a:ext cx="4572000" cy="49834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17720" y="0"/>
            <a:ext cx="6274279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18BEB48-A052-9364-6EF6-F698004CA5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911724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417D8113-ECE6-D6F5-9CA4-C96A535F4799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29A0137-F97A-8194-464D-3B7D4814A8A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3FE5686-63A9-B1A1-5734-F96A9651465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2104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012268"/>
            <a:ext cx="3739896" cy="1390330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4635132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485E715F-A05B-F2BC-ABF4-447E9B58E0C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>
            <a:off x="-499001" y="5684309"/>
            <a:ext cx="170920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6320" y="5012267"/>
            <a:ext cx="6400800" cy="139033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  <a:lvl2pPr marL="228600" indent="0"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</a:defRPr>
            </a:lvl2pPr>
            <a:lvl3pPr marL="457200" indent="0"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3pPr>
            <a:lvl4pPr marL="685800" indent="0">
              <a:buFont typeface="Arial" panose="020B0604020202020204" pitchFamily="34" charset="0"/>
              <a:buNone/>
              <a:defRPr sz="1200">
                <a:solidFill>
                  <a:schemeClr val="tx1"/>
                </a:solidFill>
              </a:defRPr>
            </a:lvl4pPr>
            <a:lvl5pPr marL="914400" indent="0">
              <a:buFont typeface="Arial" panose="020B0604020202020204" pitchFamily="34" charset="0"/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1173959" y="5435073"/>
            <a:ext cx="1210734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A2B6090-1D21-5610-7943-4C4F96A6C7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463823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33453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4882896"/>
            <a:ext cx="3657603" cy="1453896"/>
          </a:xfrm>
        </p:spPr>
        <p:txBody>
          <a:bodyPr anchor="t">
            <a:normAutofit/>
          </a:bodyPr>
          <a:lstStyle>
            <a:lvl1pPr algn="ctr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838F5DE0-1AA8-5320-EBEC-7B2EEF39963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1520" y="548642"/>
            <a:ext cx="3490175" cy="4041647"/>
          </a:xfrm>
          <a:custGeom>
            <a:avLst/>
            <a:gdLst>
              <a:gd name="connsiteX0" fmla="*/ 1745088 w 3490175"/>
              <a:gd name="connsiteY0" fmla="*/ 0 h 4041647"/>
              <a:gd name="connsiteX1" fmla="*/ 3490175 w 3490175"/>
              <a:gd name="connsiteY1" fmla="*/ 1745088 h 4041647"/>
              <a:gd name="connsiteX2" fmla="*/ 3490175 w 3490175"/>
              <a:gd name="connsiteY2" fmla="*/ 3141232 h 4041647"/>
              <a:gd name="connsiteX3" fmla="*/ 3490175 w 3490175"/>
              <a:gd name="connsiteY3" fmla="*/ 3490175 h 4041647"/>
              <a:gd name="connsiteX4" fmla="*/ 3490175 w 3490175"/>
              <a:gd name="connsiteY4" fmla="*/ 4041647 h 4041647"/>
              <a:gd name="connsiteX5" fmla="*/ 0 w 3490175"/>
              <a:gd name="connsiteY5" fmla="*/ 4041647 h 4041647"/>
              <a:gd name="connsiteX6" fmla="*/ 0 w 3490175"/>
              <a:gd name="connsiteY6" fmla="*/ 3490175 h 4041647"/>
              <a:gd name="connsiteX7" fmla="*/ 0 w 3490175"/>
              <a:gd name="connsiteY7" fmla="*/ 3141232 h 4041647"/>
              <a:gd name="connsiteX8" fmla="*/ 0 w 3490175"/>
              <a:gd name="connsiteY8" fmla="*/ 1745088 h 4041647"/>
              <a:gd name="connsiteX9" fmla="*/ 1745088 w 3490175"/>
              <a:gd name="connsiteY9" fmla="*/ 0 h 4041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490175" h="4041647">
                <a:moveTo>
                  <a:pt x="1745088" y="0"/>
                </a:moveTo>
                <a:cubicBezTo>
                  <a:pt x="2708873" y="0"/>
                  <a:pt x="3490175" y="781302"/>
                  <a:pt x="3490175" y="1745088"/>
                </a:cubicBezTo>
                <a:lnTo>
                  <a:pt x="3490175" y="3141232"/>
                </a:lnTo>
                <a:lnTo>
                  <a:pt x="3490175" y="3490175"/>
                </a:lnTo>
                <a:lnTo>
                  <a:pt x="3490175" y="4041647"/>
                </a:lnTo>
                <a:lnTo>
                  <a:pt x="0" y="4041647"/>
                </a:lnTo>
                <a:lnTo>
                  <a:pt x="0" y="3490175"/>
                </a:lnTo>
                <a:lnTo>
                  <a:pt x="0" y="3141232"/>
                </a:lnTo>
                <a:lnTo>
                  <a:pt x="0" y="1745088"/>
                </a:lnTo>
                <a:cubicBezTo>
                  <a:pt x="0" y="781302"/>
                  <a:pt x="781302" y="0"/>
                  <a:pt x="1745088" y="0"/>
                </a:cubicBezTo>
                <a:close/>
              </a:path>
            </a:pathLst>
          </a:custGeom>
          <a:blipFill dpi="0" rotWithShape="1">
            <a:blip r:embed="rId2">
              <a:alphaModFix amt="81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6350"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37760" y="549275"/>
            <a:ext cx="6561138" cy="575945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19C3A72-7CAE-129F-7490-B687280EF1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646117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456274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164" y="559341"/>
            <a:ext cx="1075567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3C89FBB9-2C05-A4C1-ECB4-D6A5C4219E4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BBB07A11-50DE-6BC0-0514-6E2C14A4798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16200000" flipH="1">
            <a:off x="-997746" y="4594946"/>
            <a:ext cx="2706690" cy="36512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03ED5F49-F9F7-05A9-62AC-C9C8DF2EADE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8569" y="6264201"/>
            <a:ext cx="574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1200" y="1713652"/>
            <a:ext cx="4387012" cy="46129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58927" y="1713653"/>
            <a:ext cx="6533071" cy="5144347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dirty="0"/>
            </a:lvl1pPr>
          </a:lstStyle>
          <a:p>
            <a:pPr marL="285750" lvl="0" indent="-28575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1662695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B7BBF55A-D91F-143D-FBB6-73995F00E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400" y="4937761"/>
            <a:ext cx="6987537" cy="1353312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spcBef>
                <a:spcPts val="1000"/>
              </a:spcBef>
              <a:defRPr sz="2800" cap="none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72A4B4E-0B2F-F1BB-322A-713D1FB5F2F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057400" y="549021"/>
            <a:ext cx="9455150" cy="4333875"/>
          </a:xfrm>
        </p:spPr>
        <p:txBody>
          <a:bodyPr anchor="b">
            <a:normAutofit/>
          </a:bodyPr>
          <a:lstStyle>
            <a:lvl1pPr>
              <a:defRPr sz="23200">
                <a:latin typeface="+mj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546D47F-2AE5-2705-911C-52BBD6B7D8EA}"/>
              </a:ext>
            </a:extLst>
          </p:cNvPr>
          <p:cNvCxnSpPr>
            <a:cxnSpLocks/>
          </p:cNvCxnSpPr>
          <p:nvPr/>
        </p:nvCxnSpPr>
        <p:spPr>
          <a:xfrm flipV="1">
            <a:off x="137160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52141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-1228126"/>
            <a:ext cx="10652760" cy="1133856"/>
          </a:xfrm>
        </p:spPr>
        <p:txBody>
          <a:bodyPr/>
          <a:lstStyle>
            <a:lvl1pPr>
              <a:defRPr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AA4897F-B66E-DAD4-F56C-6152B417CC5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624138" y="2268748"/>
            <a:ext cx="6943724" cy="3954255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1pPr>
            <a:lvl2pPr marL="2286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2pPr>
            <a:lvl3pPr marL="4572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3pPr>
            <a:lvl4pPr marL="6858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4pPr>
            <a:lvl5pPr marL="9144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reeform: Shape 15">
            <a:extLst>
              <a:ext uri="{FF2B5EF4-FFF2-40B4-BE49-F238E27FC236}">
                <a16:creationId xmlns:a16="http://schemas.microsoft.com/office/drawing/2014/main" id="{8EFA7EFC-C6F9-B1D5-025F-824C1CE9A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3057205" y="-1430380"/>
            <a:ext cx="6077590" cy="10510705"/>
          </a:xfrm>
          <a:custGeom>
            <a:avLst/>
            <a:gdLst>
              <a:gd name="connsiteX0" fmla="*/ 5325805 w 5325805"/>
              <a:gd name="connsiteY0" fmla="*/ 2714782 h 5429563"/>
              <a:gd name="connsiteX1" fmla="*/ 2611024 w 5325805"/>
              <a:gd name="connsiteY1" fmla="*/ 5429563 h 5429563"/>
              <a:gd name="connsiteX2" fmla="*/ 1942188 w 5325805"/>
              <a:gd name="connsiteY2" fmla="*/ 5429563 h 5429563"/>
              <a:gd name="connsiteX3" fmla="*/ 668836 w 5325805"/>
              <a:gd name="connsiteY3" fmla="*/ 5429563 h 5429563"/>
              <a:gd name="connsiteX4" fmla="*/ 0 w 5325805"/>
              <a:gd name="connsiteY4" fmla="*/ 5429563 h 5429563"/>
              <a:gd name="connsiteX5" fmla="*/ 0 w 5325805"/>
              <a:gd name="connsiteY5" fmla="*/ 0 h 5429563"/>
              <a:gd name="connsiteX6" fmla="*/ 668836 w 5325805"/>
              <a:gd name="connsiteY6" fmla="*/ 0 h 5429563"/>
              <a:gd name="connsiteX7" fmla="*/ 1942188 w 5325805"/>
              <a:gd name="connsiteY7" fmla="*/ 0 h 5429563"/>
              <a:gd name="connsiteX8" fmla="*/ 2611024 w 5325805"/>
              <a:gd name="connsiteY8" fmla="*/ 0 h 5429563"/>
              <a:gd name="connsiteX9" fmla="*/ 5325805 w 5325805"/>
              <a:gd name="connsiteY9" fmla="*/ 2714782 h 5429563"/>
              <a:gd name="connsiteX0" fmla="*/ 668836 w 5325805"/>
              <a:gd name="connsiteY0" fmla="*/ 5429563 h 5476799"/>
              <a:gd name="connsiteX1" fmla="*/ 0 w 5325805"/>
              <a:gd name="connsiteY1" fmla="*/ 5429563 h 5476799"/>
              <a:gd name="connsiteX2" fmla="*/ 0 w 5325805"/>
              <a:gd name="connsiteY2" fmla="*/ 0 h 5476799"/>
              <a:gd name="connsiteX3" fmla="*/ 668836 w 5325805"/>
              <a:gd name="connsiteY3" fmla="*/ 0 h 5476799"/>
              <a:gd name="connsiteX4" fmla="*/ 1942188 w 5325805"/>
              <a:gd name="connsiteY4" fmla="*/ 0 h 5476799"/>
              <a:gd name="connsiteX5" fmla="*/ 2611024 w 5325805"/>
              <a:gd name="connsiteY5" fmla="*/ 0 h 5476799"/>
              <a:gd name="connsiteX6" fmla="*/ 5325805 w 5325805"/>
              <a:gd name="connsiteY6" fmla="*/ 2714782 h 5476799"/>
              <a:gd name="connsiteX7" fmla="*/ 2611024 w 5325805"/>
              <a:gd name="connsiteY7" fmla="*/ 5429563 h 5476799"/>
              <a:gd name="connsiteX8" fmla="*/ 1942188 w 5325805"/>
              <a:gd name="connsiteY8" fmla="*/ 5429563 h 5476799"/>
              <a:gd name="connsiteX9" fmla="*/ 716072 w 5325805"/>
              <a:gd name="connsiteY9" fmla="*/ 5476799 h 5476799"/>
              <a:gd name="connsiteX0" fmla="*/ 668836 w 5325805"/>
              <a:gd name="connsiteY0" fmla="*/ 5429563 h 5429563"/>
              <a:gd name="connsiteX1" fmla="*/ 0 w 5325805"/>
              <a:gd name="connsiteY1" fmla="*/ 5429563 h 5429563"/>
              <a:gd name="connsiteX2" fmla="*/ 0 w 5325805"/>
              <a:gd name="connsiteY2" fmla="*/ 0 h 5429563"/>
              <a:gd name="connsiteX3" fmla="*/ 668836 w 5325805"/>
              <a:gd name="connsiteY3" fmla="*/ 0 h 5429563"/>
              <a:gd name="connsiteX4" fmla="*/ 1942188 w 5325805"/>
              <a:gd name="connsiteY4" fmla="*/ 0 h 5429563"/>
              <a:gd name="connsiteX5" fmla="*/ 2611024 w 5325805"/>
              <a:gd name="connsiteY5" fmla="*/ 0 h 5429563"/>
              <a:gd name="connsiteX6" fmla="*/ 5325805 w 5325805"/>
              <a:gd name="connsiteY6" fmla="*/ 2714782 h 5429563"/>
              <a:gd name="connsiteX7" fmla="*/ 2611024 w 5325805"/>
              <a:gd name="connsiteY7" fmla="*/ 5429563 h 5429563"/>
              <a:gd name="connsiteX8" fmla="*/ 1942188 w 5325805"/>
              <a:gd name="connsiteY8" fmla="*/ 5429563 h 5429563"/>
              <a:gd name="connsiteX0" fmla="*/ 0 w 5325805"/>
              <a:gd name="connsiteY0" fmla="*/ 5429563 h 5429563"/>
              <a:gd name="connsiteX1" fmla="*/ 0 w 5325805"/>
              <a:gd name="connsiteY1" fmla="*/ 0 h 5429563"/>
              <a:gd name="connsiteX2" fmla="*/ 668836 w 5325805"/>
              <a:gd name="connsiteY2" fmla="*/ 0 h 5429563"/>
              <a:gd name="connsiteX3" fmla="*/ 1942188 w 5325805"/>
              <a:gd name="connsiteY3" fmla="*/ 0 h 5429563"/>
              <a:gd name="connsiteX4" fmla="*/ 2611024 w 5325805"/>
              <a:gd name="connsiteY4" fmla="*/ 0 h 5429563"/>
              <a:gd name="connsiteX5" fmla="*/ 5325805 w 5325805"/>
              <a:gd name="connsiteY5" fmla="*/ 2714782 h 5429563"/>
              <a:gd name="connsiteX6" fmla="*/ 2611024 w 5325805"/>
              <a:gd name="connsiteY6" fmla="*/ 5429563 h 5429563"/>
              <a:gd name="connsiteX7" fmla="*/ 1942188 w 5325805"/>
              <a:gd name="connsiteY7" fmla="*/ 5429563 h 5429563"/>
              <a:gd name="connsiteX0" fmla="*/ 0 w 5325805"/>
              <a:gd name="connsiteY0" fmla="*/ 0 h 5429563"/>
              <a:gd name="connsiteX1" fmla="*/ 668836 w 5325805"/>
              <a:gd name="connsiteY1" fmla="*/ 0 h 5429563"/>
              <a:gd name="connsiteX2" fmla="*/ 1942188 w 5325805"/>
              <a:gd name="connsiteY2" fmla="*/ 0 h 5429563"/>
              <a:gd name="connsiteX3" fmla="*/ 2611024 w 5325805"/>
              <a:gd name="connsiteY3" fmla="*/ 0 h 5429563"/>
              <a:gd name="connsiteX4" fmla="*/ 5325805 w 5325805"/>
              <a:gd name="connsiteY4" fmla="*/ 2714782 h 5429563"/>
              <a:gd name="connsiteX5" fmla="*/ 2611024 w 5325805"/>
              <a:gd name="connsiteY5" fmla="*/ 5429563 h 5429563"/>
              <a:gd name="connsiteX6" fmla="*/ 1942188 w 5325805"/>
              <a:gd name="connsiteY6" fmla="*/ 5429563 h 5429563"/>
              <a:gd name="connsiteX0" fmla="*/ 0 w 4656969"/>
              <a:gd name="connsiteY0" fmla="*/ 0 h 5429563"/>
              <a:gd name="connsiteX1" fmla="*/ 1273352 w 4656969"/>
              <a:gd name="connsiteY1" fmla="*/ 0 h 5429563"/>
              <a:gd name="connsiteX2" fmla="*/ 1942188 w 4656969"/>
              <a:gd name="connsiteY2" fmla="*/ 0 h 5429563"/>
              <a:gd name="connsiteX3" fmla="*/ 4656969 w 4656969"/>
              <a:gd name="connsiteY3" fmla="*/ 2714782 h 5429563"/>
              <a:gd name="connsiteX4" fmla="*/ 1942188 w 4656969"/>
              <a:gd name="connsiteY4" fmla="*/ 5429563 h 5429563"/>
              <a:gd name="connsiteX5" fmla="*/ 1273352 w 4656969"/>
              <a:gd name="connsiteY5" fmla="*/ 5429563 h 5429563"/>
              <a:gd name="connsiteX0" fmla="*/ 0 w 3383617"/>
              <a:gd name="connsiteY0" fmla="*/ 0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0 w 3383617"/>
              <a:gd name="connsiteY0" fmla="*/ 0 h 5429563"/>
              <a:gd name="connsiteX1" fmla="*/ 248198 w 3383617"/>
              <a:gd name="connsiteY1" fmla="*/ 41 h 5429563"/>
              <a:gd name="connsiteX2" fmla="*/ 668836 w 3383617"/>
              <a:gd name="connsiteY2" fmla="*/ 0 h 5429563"/>
              <a:gd name="connsiteX3" fmla="*/ 3383617 w 3383617"/>
              <a:gd name="connsiteY3" fmla="*/ 2714782 h 5429563"/>
              <a:gd name="connsiteX4" fmla="*/ 668836 w 3383617"/>
              <a:gd name="connsiteY4" fmla="*/ 5429563 h 5429563"/>
              <a:gd name="connsiteX5" fmla="*/ 0 w 3383617"/>
              <a:gd name="connsiteY5" fmla="*/ 5429563 h 5429563"/>
              <a:gd name="connsiteX0" fmla="*/ 248198 w 3383617"/>
              <a:gd name="connsiteY0" fmla="*/ 41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4110 w 3139529"/>
              <a:gd name="connsiteY0" fmla="*/ 41 h 5429563"/>
              <a:gd name="connsiteX1" fmla="*/ 424748 w 3139529"/>
              <a:gd name="connsiteY1" fmla="*/ 0 h 5429563"/>
              <a:gd name="connsiteX2" fmla="*/ 3139529 w 3139529"/>
              <a:gd name="connsiteY2" fmla="*/ 2714782 h 5429563"/>
              <a:gd name="connsiteX3" fmla="*/ 424748 w 3139529"/>
              <a:gd name="connsiteY3" fmla="*/ 5429563 h 5429563"/>
              <a:gd name="connsiteX4" fmla="*/ 0 w 3139529"/>
              <a:gd name="connsiteY4" fmla="*/ 5429563 h 542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39529" h="5429563">
                <a:moveTo>
                  <a:pt x="4110" y="41"/>
                </a:moveTo>
                <a:lnTo>
                  <a:pt x="424748" y="0"/>
                </a:lnTo>
                <a:cubicBezTo>
                  <a:pt x="1924080" y="0"/>
                  <a:pt x="3139529" y="1215450"/>
                  <a:pt x="3139529" y="2714782"/>
                </a:cubicBezTo>
                <a:cubicBezTo>
                  <a:pt x="3139529" y="4214114"/>
                  <a:pt x="1924080" y="5429563"/>
                  <a:pt x="424748" y="5429563"/>
                </a:cubicBezTo>
                <a:lnTo>
                  <a:pt x="0" y="5429563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012593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16D87B9B-22A3-322E-B7E8-223255AD09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40168" y="5669280"/>
            <a:ext cx="6311664" cy="466344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spcBef>
                <a:spcPts val="1000"/>
              </a:spcBef>
              <a:defRPr sz="1800" cap="all" baseline="0"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6A9BC83F-8FE5-5223-2B3A-6E122D33630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597135" y="1744578"/>
            <a:ext cx="6997730" cy="3507906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6000" cap="all" baseline="0">
                <a:latin typeface="+mn-lt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  <p:sp>
        <p:nvSpPr>
          <p:cNvPr id="9" name="Freeform: Shape 15">
            <a:extLst>
              <a:ext uri="{FF2B5EF4-FFF2-40B4-BE49-F238E27FC236}">
                <a16:creationId xmlns:a16="http://schemas.microsoft.com/office/drawing/2014/main" id="{9F353A57-FA3C-A68C-4908-E774A52CB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2811380" y="-1681974"/>
            <a:ext cx="6569242" cy="10510705"/>
          </a:xfrm>
          <a:custGeom>
            <a:avLst/>
            <a:gdLst>
              <a:gd name="connsiteX0" fmla="*/ 5325805 w 5325805"/>
              <a:gd name="connsiteY0" fmla="*/ 2714782 h 5429563"/>
              <a:gd name="connsiteX1" fmla="*/ 2611024 w 5325805"/>
              <a:gd name="connsiteY1" fmla="*/ 5429563 h 5429563"/>
              <a:gd name="connsiteX2" fmla="*/ 1942188 w 5325805"/>
              <a:gd name="connsiteY2" fmla="*/ 5429563 h 5429563"/>
              <a:gd name="connsiteX3" fmla="*/ 668836 w 5325805"/>
              <a:gd name="connsiteY3" fmla="*/ 5429563 h 5429563"/>
              <a:gd name="connsiteX4" fmla="*/ 0 w 5325805"/>
              <a:gd name="connsiteY4" fmla="*/ 5429563 h 5429563"/>
              <a:gd name="connsiteX5" fmla="*/ 0 w 5325805"/>
              <a:gd name="connsiteY5" fmla="*/ 0 h 5429563"/>
              <a:gd name="connsiteX6" fmla="*/ 668836 w 5325805"/>
              <a:gd name="connsiteY6" fmla="*/ 0 h 5429563"/>
              <a:gd name="connsiteX7" fmla="*/ 1942188 w 5325805"/>
              <a:gd name="connsiteY7" fmla="*/ 0 h 5429563"/>
              <a:gd name="connsiteX8" fmla="*/ 2611024 w 5325805"/>
              <a:gd name="connsiteY8" fmla="*/ 0 h 5429563"/>
              <a:gd name="connsiteX9" fmla="*/ 5325805 w 5325805"/>
              <a:gd name="connsiteY9" fmla="*/ 2714782 h 5429563"/>
              <a:gd name="connsiteX0" fmla="*/ 668836 w 5325805"/>
              <a:gd name="connsiteY0" fmla="*/ 5429563 h 5476799"/>
              <a:gd name="connsiteX1" fmla="*/ 0 w 5325805"/>
              <a:gd name="connsiteY1" fmla="*/ 5429563 h 5476799"/>
              <a:gd name="connsiteX2" fmla="*/ 0 w 5325805"/>
              <a:gd name="connsiteY2" fmla="*/ 0 h 5476799"/>
              <a:gd name="connsiteX3" fmla="*/ 668836 w 5325805"/>
              <a:gd name="connsiteY3" fmla="*/ 0 h 5476799"/>
              <a:gd name="connsiteX4" fmla="*/ 1942188 w 5325805"/>
              <a:gd name="connsiteY4" fmla="*/ 0 h 5476799"/>
              <a:gd name="connsiteX5" fmla="*/ 2611024 w 5325805"/>
              <a:gd name="connsiteY5" fmla="*/ 0 h 5476799"/>
              <a:gd name="connsiteX6" fmla="*/ 5325805 w 5325805"/>
              <a:gd name="connsiteY6" fmla="*/ 2714782 h 5476799"/>
              <a:gd name="connsiteX7" fmla="*/ 2611024 w 5325805"/>
              <a:gd name="connsiteY7" fmla="*/ 5429563 h 5476799"/>
              <a:gd name="connsiteX8" fmla="*/ 1942188 w 5325805"/>
              <a:gd name="connsiteY8" fmla="*/ 5429563 h 5476799"/>
              <a:gd name="connsiteX9" fmla="*/ 716072 w 5325805"/>
              <a:gd name="connsiteY9" fmla="*/ 5476799 h 5476799"/>
              <a:gd name="connsiteX0" fmla="*/ 668836 w 5325805"/>
              <a:gd name="connsiteY0" fmla="*/ 5429563 h 5429563"/>
              <a:gd name="connsiteX1" fmla="*/ 0 w 5325805"/>
              <a:gd name="connsiteY1" fmla="*/ 5429563 h 5429563"/>
              <a:gd name="connsiteX2" fmla="*/ 0 w 5325805"/>
              <a:gd name="connsiteY2" fmla="*/ 0 h 5429563"/>
              <a:gd name="connsiteX3" fmla="*/ 668836 w 5325805"/>
              <a:gd name="connsiteY3" fmla="*/ 0 h 5429563"/>
              <a:gd name="connsiteX4" fmla="*/ 1942188 w 5325805"/>
              <a:gd name="connsiteY4" fmla="*/ 0 h 5429563"/>
              <a:gd name="connsiteX5" fmla="*/ 2611024 w 5325805"/>
              <a:gd name="connsiteY5" fmla="*/ 0 h 5429563"/>
              <a:gd name="connsiteX6" fmla="*/ 5325805 w 5325805"/>
              <a:gd name="connsiteY6" fmla="*/ 2714782 h 5429563"/>
              <a:gd name="connsiteX7" fmla="*/ 2611024 w 5325805"/>
              <a:gd name="connsiteY7" fmla="*/ 5429563 h 5429563"/>
              <a:gd name="connsiteX8" fmla="*/ 1942188 w 5325805"/>
              <a:gd name="connsiteY8" fmla="*/ 5429563 h 5429563"/>
              <a:gd name="connsiteX0" fmla="*/ 0 w 5325805"/>
              <a:gd name="connsiteY0" fmla="*/ 5429563 h 5429563"/>
              <a:gd name="connsiteX1" fmla="*/ 0 w 5325805"/>
              <a:gd name="connsiteY1" fmla="*/ 0 h 5429563"/>
              <a:gd name="connsiteX2" fmla="*/ 668836 w 5325805"/>
              <a:gd name="connsiteY2" fmla="*/ 0 h 5429563"/>
              <a:gd name="connsiteX3" fmla="*/ 1942188 w 5325805"/>
              <a:gd name="connsiteY3" fmla="*/ 0 h 5429563"/>
              <a:gd name="connsiteX4" fmla="*/ 2611024 w 5325805"/>
              <a:gd name="connsiteY4" fmla="*/ 0 h 5429563"/>
              <a:gd name="connsiteX5" fmla="*/ 5325805 w 5325805"/>
              <a:gd name="connsiteY5" fmla="*/ 2714782 h 5429563"/>
              <a:gd name="connsiteX6" fmla="*/ 2611024 w 5325805"/>
              <a:gd name="connsiteY6" fmla="*/ 5429563 h 5429563"/>
              <a:gd name="connsiteX7" fmla="*/ 1942188 w 5325805"/>
              <a:gd name="connsiteY7" fmla="*/ 5429563 h 5429563"/>
              <a:gd name="connsiteX0" fmla="*/ 0 w 5325805"/>
              <a:gd name="connsiteY0" fmla="*/ 0 h 5429563"/>
              <a:gd name="connsiteX1" fmla="*/ 668836 w 5325805"/>
              <a:gd name="connsiteY1" fmla="*/ 0 h 5429563"/>
              <a:gd name="connsiteX2" fmla="*/ 1942188 w 5325805"/>
              <a:gd name="connsiteY2" fmla="*/ 0 h 5429563"/>
              <a:gd name="connsiteX3" fmla="*/ 2611024 w 5325805"/>
              <a:gd name="connsiteY3" fmla="*/ 0 h 5429563"/>
              <a:gd name="connsiteX4" fmla="*/ 5325805 w 5325805"/>
              <a:gd name="connsiteY4" fmla="*/ 2714782 h 5429563"/>
              <a:gd name="connsiteX5" fmla="*/ 2611024 w 5325805"/>
              <a:gd name="connsiteY5" fmla="*/ 5429563 h 5429563"/>
              <a:gd name="connsiteX6" fmla="*/ 1942188 w 5325805"/>
              <a:gd name="connsiteY6" fmla="*/ 5429563 h 5429563"/>
              <a:gd name="connsiteX0" fmla="*/ 0 w 4656969"/>
              <a:gd name="connsiteY0" fmla="*/ 0 h 5429563"/>
              <a:gd name="connsiteX1" fmla="*/ 1273352 w 4656969"/>
              <a:gd name="connsiteY1" fmla="*/ 0 h 5429563"/>
              <a:gd name="connsiteX2" fmla="*/ 1942188 w 4656969"/>
              <a:gd name="connsiteY2" fmla="*/ 0 h 5429563"/>
              <a:gd name="connsiteX3" fmla="*/ 4656969 w 4656969"/>
              <a:gd name="connsiteY3" fmla="*/ 2714782 h 5429563"/>
              <a:gd name="connsiteX4" fmla="*/ 1942188 w 4656969"/>
              <a:gd name="connsiteY4" fmla="*/ 5429563 h 5429563"/>
              <a:gd name="connsiteX5" fmla="*/ 1273352 w 4656969"/>
              <a:gd name="connsiteY5" fmla="*/ 5429563 h 5429563"/>
              <a:gd name="connsiteX0" fmla="*/ 0 w 3383617"/>
              <a:gd name="connsiteY0" fmla="*/ 0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0 w 3383617"/>
              <a:gd name="connsiteY0" fmla="*/ 0 h 5429563"/>
              <a:gd name="connsiteX1" fmla="*/ 248198 w 3383617"/>
              <a:gd name="connsiteY1" fmla="*/ 41 h 5429563"/>
              <a:gd name="connsiteX2" fmla="*/ 668836 w 3383617"/>
              <a:gd name="connsiteY2" fmla="*/ 0 h 5429563"/>
              <a:gd name="connsiteX3" fmla="*/ 3383617 w 3383617"/>
              <a:gd name="connsiteY3" fmla="*/ 2714782 h 5429563"/>
              <a:gd name="connsiteX4" fmla="*/ 668836 w 3383617"/>
              <a:gd name="connsiteY4" fmla="*/ 5429563 h 5429563"/>
              <a:gd name="connsiteX5" fmla="*/ 0 w 3383617"/>
              <a:gd name="connsiteY5" fmla="*/ 5429563 h 5429563"/>
              <a:gd name="connsiteX0" fmla="*/ 248198 w 3383617"/>
              <a:gd name="connsiteY0" fmla="*/ 41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4110 w 3139529"/>
              <a:gd name="connsiteY0" fmla="*/ 41 h 5429563"/>
              <a:gd name="connsiteX1" fmla="*/ 424748 w 3139529"/>
              <a:gd name="connsiteY1" fmla="*/ 0 h 5429563"/>
              <a:gd name="connsiteX2" fmla="*/ 3139529 w 3139529"/>
              <a:gd name="connsiteY2" fmla="*/ 2714782 h 5429563"/>
              <a:gd name="connsiteX3" fmla="*/ 424748 w 3139529"/>
              <a:gd name="connsiteY3" fmla="*/ 5429563 h 5429563"/>
              <a:gd name="connsiteX4" fmla="*/ 0 w 3139529"/>
              <a:gd name="connsiteY4" fmla="*/ 5429563 h 542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39529" h="5429563">
                <a:moveTo>
                  <a:pt x="4110" y="41"/>
                </a:moveTo>
                <a:lnTo>
                  <a:pt x="424748" y="0"/>
                </a:lnTo>
                <a:cubicBezTo>
                  <a:pt x="1924080" y="0"/>
                  <a:pt x="3139529" y="1215450"/>
                  <a:pt x="3139529" y="2714782"/>
                </a:cubicBezTo>
                <a:cubicBezTo>
                  <a:pt x="3139529" y="4214114"/>
                  <a:pt x="1924080" y="5429563"/>
                  <a:pt x="424748" y="5429563"/>
                </a:cubicBezTo>
                <a:lnTo>
                  <a:pt x="0" y="5429563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2444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72FE6B-A4D8-8ED7-89D7-5E7F2C5B8F5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31838" y="2103438"/>
            <a:ext cx="5181600" cy="4351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86405AE-ED31-677D-86D8-01EAD583735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84947" y="2103121"/>
            <a:ext cx="5181600" cy="4351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14047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85A6F3D-6630-C2E0-DC0A-6D2C0AACF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1520" y="2103120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9C38DBB1-A1FA-A460-88C8-B05F1570CA9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31838" y="2743200"/>
            <a:ext cx="5157187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09360" y="2103120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82D763CC-A010-6A2B-FEF3-388EAC8417D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09361" y="2743200"/>
            <a:ext cx="5183188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17882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0796BC8-E1B7-E6D6-E86F-4A5CAECDF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77652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52143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57200"/>
            <a:ext cx="7342307" cy="1133856"/>
          </a:xfrm>
          <a:noFill/>
        </p:spPr>
        <p:txBody>
          <a:bodyPr anchor="b">
            <a:no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2624328"/>
            <a:ext cx="10424160" cy="3200400"/>
          </a:xfrm>
          <a:noFill/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16942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6">
            <a:extLst>
              <a:ext uri="{FF2B5EF4-FFF2-40B4-BE49-F238E27FC236}">
                <a16:creationId xmlns:a16="http://schemas.microsoft.com/office/drawing/2014/main" id="{CE8CC034-C652-239B-0064-9B0543AC2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 lang="en-US" dirty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D051F68D-E2E5-C625-0273-281CE6D4939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520" y="2301836"/>
            <a:ext cx="10741150" cy="3921165"/>
          </a:xfrm>
          <a:noFill/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1489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476A66-BE83-43F9-A28B-02DF7879A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4990"/>
            <a:ext cx="10515600" cy="111681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ACB382-EE11-430D-941A-DB76EEB7F2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 flipH="1">
            <a:off x="-1131161" y="1592957"/>
            <a:ext cx="29735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D76E94-F276-4F0F-8DD9-B1F8A3198A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061469"/>
            <a:ext cx="10515600" cy="4114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AD964E-3A2E-4DB9-B96A-EDE144A47B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425981" y="4687095"/>
            <a:ext cx="270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C562FE-ACD1-43F2-A3DE-5B11E10B7E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2296" y="6356350"/>
            <a:ext cx="5746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rtl="0">
              <a:defRPr sz="1000"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EB34A3B-1FD5-48FF-9982-1E64C864C01D}"/>
              </a:ext>
            </a:extLst>
          </p:cNvPr>
          <p:cNvCxnSpPr>
            <a:cxnSpLocks/>
          </p:cNvCxnSpPr>
          <p:nvPr/>
        </p:nvCxnSpPr>
        <p:spPr>
          <a:xfrm flipH="1">
            <a:off x="4" y="1824111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2773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SzPct val="80000"/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Goudy Old Style" panose="02020502050305020303" pitchFamily="18" charset="0"/>
        <a:buChar char="–"/>
        <a:defRPr sz="1600" i="1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Goudy Old Style" panose="02020502050305020303" pitchFamily="18" charset="0"/>
        <a:buChar char="–"/>
        <a:defRPr sz="1400" i="1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28">
          <p15:clr>
            <a:srgbClr val="F26B43"/>
          </p15:clr>
        </p15:guide>
        <p15:guide id="2" pos="528">
          <p15:clr>
            <a:srgbClr val="F26B43"/>
          </p15:clr>
        </p15:guide>
        <p15:guide id="3" orient="horz" pos="3792">
          <p15:clr>
            <a:srgbClr val="F26B43"/>
          </p15:clr>
        </p15:guide>
        <p15:guide id="4" pos="715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11.png"/><Relationship Id="rId4" Type="http://schemas.openxmlformats.org/officeDocument/2006/relationships/customXml" Target="../ink/ink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91440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2D3A4A"/>
                </a:solidFill>
                <a:latin typeface="Calibri"/>
              </a:defRPr>
            </a:pPr>
            <a:r>
              <a:t>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0D47A1"/>
                </a:solidFill>
                <a:latin typeface="Calibri"/>
              </a:defRPr>
            </a:pPr>
            <a:r>
              <a:t>Slotit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46888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5F6B7A"/>
                </a:solidFill>
                <a:latin typeface="Calibri"/>
              </a:defRPr>
            </a:pPr>
            <a:r>
              <a:t>Sports Venue Booking &amp; Tournament Management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3291840"/>
            <a:ext cx="7619695" cy="2498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600" b="0">
                <a:solidFill>
                  <a:srgbClr val="5F6B7A"/>
                </a:solidFill>
                <a:latin typeface="Calibri"/>
              </a:defRPr>
            </a:pPr>
            <a:r>
              <a:rPr dirty="0"/>
              <a:t>Subject: Database Management Systems (DBMS)</a:t>
            </a:r>
          </a:p>
          <a:p>
            <a:pPr algn="ctr">
              <a:spcAft>
                <a:spcPts val="400"/>
              </a:spcAft>
              <a:defRPr sz="1600" b="0">
                <a:solidFill>
                  <a:srgbClr val="5F6B7A"/>
                </a:solidFill>
                <a:latin typeface="Calibri"/>
              </a:defRPr>
            </a:pPr>
            <a:r>
              <a:rPr dirty="0"/>
              <a:t>Group: 9</a:t>
            </a:r>
            <a:br>
              <a:rPr lang="en-US" dirty="0"/>
            </a:br>
            <a:r>
              <a:rPr lang="en-US" dirty="0"/>
              <a:t>Electrical and computer – ER5</a:t>
            </a:r>
            <a:endParaRPr dirty="0"/>
          </a:p>
          <a:p>
            <a:pPr algn="ctr">
              <a:spcAft>
                <a:spcPts val="400"/>
              </a:spcAft>
              <a:defRPr sz="1000" b="0">
                <a:solidFill>
                  <a:srgbClr val="5F6B7A"/>
                </a:solidFill>
                <a:latin typeface="Calibri"/>
              </a:defRPr>
            </a:pPr>
            <a:endParaRPr dirty="0"/>
          </a:p>
          <a:p>
            <a:pPr algn="ctr">
              <a:spcAft>
                <a:spcPts val="400"/>
              </a:spcAft>
              <a:defRPr sz="1500" b="0">
                <a:solidFill>
                  <a:srgbClr val="2D3A4A"/>
                </a:solidFill>
                <a:latin typeface="Calibri"/>
              </a:defRPr>
            </a:pPr>
            <a:r>
              <a:rPr dirty="0"/>
              <a:t>B24ELA09  Afroz </a:t>
            </a:r>
            <a:r>
              <a:rPr dirty="0" err="1"/>
              <a:t>Shanavas</a:t>
            </a:r>
            <a:r>
              <a:rPr dirty="0"/>
              <a:t> </a:t>
            </a:r>
            <a:r>
              <a:rPr dirty="0" err="1"/>
              <a:t>Palott</a:t>
            </a:r>
            <a:endParaRPr lang="en-US" dirty="0"/>
          </a:p>
          <a:p>
            <a:pPr algn="ctr">
              <a:spcAft>
                <a:spcPts val="400"/>
              </a:spcAft>
              <a:defRPr sz="1500" b="0">
                <a:solidFill>
                  <a:srgbClr val="2D3A4A"/>
                </a:solidFill>
                <a:latin typeface="Calibri"/>
              </a:defRPr>
            </a:pPr>
            <a:r>
              <a:rPr lang="en-IN" dirty="0"/>
              <a:t>B24ELA21  Ebin Biju Abraham</a:t>
            </a:r>
            <a:endParaRPr dirty="0"/>
          </a:p>
          <a:p>
            <a:pPr algn="ctr">
              <a:spcAft>
                <a:spcPts val="400"/>
              </a:spcAft>
              <a:defRPr sz="1500" b="0">
                <a:solidFill>
                  <a:srgbClr val="2D3A4A"/>
                </a:solidFill>
                <a:latin typeface="Calibri"/>
              </a:defRPr>
            </a:pPr>
            <a:r>
              <a:rPr dirty="0"/>
              <a:t>B24ELA52  Niveditha C M</a:t>
            </a:r>
            <a:endParaRPr lang="en-US" dirty="0"/>
          </a:p>
          <a:p>
            <a:pPr algn="ctr">
              <a:spcAft>
                <a:spcPts val="400"/>
              </a:spcAft>
              <a:defRPr sz="1500" b="0">
                <a:solidFill>
                  <a:srgbClr val="2D3A4A"/>
                </a:solidFill>
                <a:latin typeface="Calibri"/>
              </a:defRPr>
            </a:pPr>
            <a:r>
              <a:rPr lang="en-IN" dirty="0"/>
              <a:t>B24ELA66  Tharun Bhaskaran</a:t>
            </a:r>
          </a:p>
          <a:p>
            <a:pPr algn="ctr">
              <a:spcAft>
                <a:spcPts val="400"/>
              </a:spcAft>
              <a:defRPr sz="1500" b="0">
                <a:solidFill>
                  <a:srgbClr val="2D3A4A"/>
                </a:solidFill>
                <a:latin typeface="Calibri"/>
              </a:defRPr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54864" cy="685800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73E8"/>
                </a:solidFill>
                <a:latin typeface="Calibri"/>
              </a:defRPr>
            </a:pPr>
            <a:r>
              <a:t>01 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A1A2E"/>
                </a:solidFill>
                <a:latin typeface="Calibri"/>
              </a:defRPr>
            </a:pPr>
            <a:r>
              <a:t>What is Slotit?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515600" cy="34573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2D3A4A"/>
                </a:solidFill>
                <a:latin typeface="Calibri"/>
              </a:defRPr>
            </a:pPr>
            <a:r>
              <a:rPr dirty="0" err="1"/>
              <a:t>Slotit</a:t>
            </a:r>
            <a:r>
              <a:rPr dirty="0"/>
              <a:t> is a web-based platform that allows sports enthusiasts to discover and book local sports venues — such as football turfs, cricket nets, and badminton courts — by the hour.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5F6B7A"/>
                </a:solidFill>
                <a:latin typeface="Calibri"/>
              </a:defRPr>
            </a:pPr>
            <a:endParaRPr dirty="0"/>
          </a:p>
          <a:p>
            <a:pPr algn="l">
              <a:spcAft>
                <a:spcPts val="400"/>
              </a:spcAft>
              <a:defRPr sz="1800" b="0">
                <a:solidFill>
                  <a:srgbClr val="2D3A4A"/>
                </a:solidFill>
                <a:latin typeface="Calibri"/>
              </a:defRPr>
            </a:pPr>
            <a:r>
              <a:rPr dirty="0"/>
              <a:t>It also provides venue managers with a simple dashboard to organize amateur tournaments, manage team registrations, and track live match scores.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5F6B7A"/>
                </a:solidFill>
                <a:latin typeface="Calibri"/>
              </a:defRPr>
            </a:pPr>
            <a:endParaRPr dirty="0"/>
          </a:p>
          <a:p>
            <a:pPr algn="l">
              <a:spcAft>
                <a:spcPts val="400"/>
              </a:spcAft>
              <a:defRPr sz="1800" b="1">
                <a:solidFill>
                  <a:srgbClr val="1A1A2E"/>
                </a:solidFill>
                <a:latin typeface="Calibri"/>
              </a:defRPr>
            </a:pPr>
            <a:r>
              <a:rPr dirty="0"/>
              <a:t>The system uses a hybrid database approach: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5F6B7A"/>
                </a:solidFill>
                <a:latin typeface="Calibri"/>
              </a:defRPr>
            </a:pPr>
            <a:r>
              <a:rPr b="1" dirty="0"/>
              <a:t>•  SQL (MySQL) — for structured data like users, bookings, and payments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5F6B7A"/>
                </a:solidFill>
                <a:latin typeface="Calibri"/>
              </a:defRPr>
            </a:pPr>
            <a:r>
              <a:rPr b="1" dirty="0"/>
              <a:t>•  NoSQL (MongoDB) — for flexible data like live commentary and player statistics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5F6B7A"/>
                </a:solidFill>
                <a:latin typeface="Calibri"/>
              </a:defRPr>
            </a:pPr>
            <a:endParaRPr dirty="0"/>
          </a:p>
          <a:p>
            <a:pPr algn="l">
              <a:spcAft>
                <a:spcPts val="400"/>
              </a:spcAft>
              <a:defRPr sz="1700" b="0">
                <a:solidFill>
                  <a:srgbClr val="0D47A1"/>
                </a:solidFill>
                <a:latin typeface="Calibri"/>
              </a:defRPr>
            </a:pPr>
            <a:r>
              <a:rPr dirty="0"/>
              <a:t>The core technical challenge is preventing double-booking of time slots when multiple users try to book the same slot simultaneously, which is solved using database transactions and locking.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54864" cy="685800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73E8"/>
                </a:solidFill>
                <a:latin typeface="Calibri"/>
              </a:defRPr>
            </a:pPr>
            <a:r>
              <a:t>02 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A1A2E"/>
                </a:solidFill>
                <a:latin typeface="Calibri"/>
              </a:defRPr>
            </a:pPr>
            <a:r>
              <a:t>Problems We Solve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291840" cy="3840480"/>
          </a:xfrm>
          <a:prstGeom prst="roundRect">
            <a:avLst/>
          </a:prstGeom>
          <a:solidFill>
            <a:srgbClr val="F0F4F8"/>
          </a:solidFill>
          <a:ln w="1524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2D3A4A"/>
                </a:solidFill>
                <a:latin typeface="Calibri"/>
              </a:defRPr>
            </a:pPr>
            <a:r>
              <a:t>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743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Calibri"/>
              </a:defRPr>
            </a:pPr>
            <a:r>
              <a:t>Manual Booking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291840"/>
            <a:ext cx="2743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5F6B7A"/>
                </a:solidFill>
                <a:latin typeface="Calibri"/>
              </a:defRPr>
            </a:pPr>
            <a:r>
              <a:t>Most local turfs still rely on phone calls and WhatsApp messages to manage bookings.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5F6B7A"/>
                </a:solidFill>
                <a:latin typeface="Calibri"/>
              </a:defRPr>
            </a:pPr>
            <a:endParaRPr/>
          </a:p>
          <a:p>
            <a:pPr algn="l">
              <a:spcAft>
                <a:spcPts val="400"/>
              </a:spcAft>
              <a:defRPr sz="1400" b="0">
                <a:solidFill>
                  <a:srgbClr val="D93025"/>
                </a:solidFill>
                <a:latin typeface="Calibri"/>
              </a:defRPr>
            </a:pPr>
            <a:r>
              <a:t>There is no centralized system to view available slots in real time.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2011680"/>
            <a:ext cx="3291840" cy="3840480"/>
          </a:xfrm>
          <a:prstGeom prst="roundRect">
            <a:avLst/>
          </a:prstGeom>
          <a:solidFill>
            <a:srgbClr val="F0F4F8"/>
          </a:solidFill>
          <a:ln w="1524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54880" y="21945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2D3A4A"/>
                </a:solidFill>
                <a:latin typeface="Calibri"/>
              </a:defRPr>
            </a:pPr>
            <a:r>
              <a:t>⚠️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743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Calibri"/>
              </a:defRPr>
            </a:pPr>
            <a:r>
              <a:t>Double Booking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3291840"/>
            <a:ext cx="2743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5F6B7A"/>
                </a:solidFill>
                <a:latin typeface="Calibri"/>
              </a:defRPr>
            </a:pPr>
            <a:r>
              <a:t>When two groups try to book the same slot at the same time, manual systems cannot detect the conflict.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5F6B7A"/>
                </a:solidFill>
                <a:latin typeface="Calibri"/>
              </a:defRPr>
            </a:pPr>
            <a:endParaRPr/>
          </a:p>
          <a:p>
            <a:pPr algn="l">
              <a:spcAft>
                <a:spcPts val="400"/>
              </a:spcAft>
              <a:defRPr sz="1400" b="0">
                <a:solidFill>
                  <a:srgbClr val="D93025"/>
                </a:solidFill>
                <a:latin typeface="Calibri"/>
              </a:defRPr>
            </a:pPr>
            <a:r>
              <a:t>Both groups show up, leading to disputes.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2011680"/>
            <a:ext cx="3291840" cy="3840480"/>
          </a:xfrm>
          <a:prstGeom prst="roundRect">
            <a:avLst/>
          </a:prstGeom>
          <a:solidFill>
            <a:srgbClr val="F0F4F8"/>
          </a:solidFill>
          <a:ln w="1524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03920" y="21945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2D3A4A"/>
                </a:solidFill>
                <a:latin typeface="Calibri"/>
              </a:defRPr>
            </a:pPr>
            <a:r>
              <a:t>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2743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Calibri"/>
              </a:defRPr>
            </a:pPr>
            <a:r>
              <a:t>No Tournament Tools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3291840"/>
            <a:ext cx="2743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5F6B7A"/>
                </a:solidFill>
                <a:latin typeface="Calibri"/>
              </a:defRPr>
            </a:pPr>
            <a:r>
              <a:t>Organizing local tournaments involves pen-and-paper brackets and manual score tracking.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5F6B7A"/>
                </a:solidFill>
                <a:latin typeface="Calibri"/>
              </a:defRPr>
            </a:pPr>
            <a:endParaRPr/>
          </a:p>
          <a:p>
            <a:pPr algn="l">
              <a:spcAft>
                <a:spcPts val="400"/>
              </a:spcAft>
              <a:defRPr sz="1400" b="0">
                <a:solidFill>
                  <a:srgbClr val="D93025"/>
                </a:solidFill>
                <a:latin typeface="Calibri"/>
              </a:defRPr>
            </a:pPr>
            <a:r>
              <a:t>There is no simple digital tool for small-scale sporting events.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54864" cy="685800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73E8"/>
                </a:solidFill>
                <a:latin typeface="Calibri"/>
              </a:defRPr>
            </a:pPr>
            <a:r>
              <a:t>03 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A1A2E"/>
                </a:solidFill>
                <a:latin typeface="Calibri"/>
              </a:defRPr>
            </a:pPr>
            <a:r>
              <a:t>Project Objectives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411480" cy="41148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202996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029968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D3A4A"/>
                </a:solidFill>
                <a:latin typeface="Calibri"/>
              </a:defRPr>
            </a:pPr>
            <a:r>
              <a:t>To build a platform where players can search for nearby sports venues and book available time slots online.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880360"/>
            <a:ext cx="411480" cy="41148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289864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898648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D3A4A"/>
                </a:solidFill>
                <a:latin typeface="Calibri"/>
              </a:defRPr>
            </a:pPr>
            <a:r>
              <a:t>To prevent double-booking of time slots using database transactions and locking mechanisms.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749039"/>
            <a:ext cx="411480" cy="41148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3767327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767327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D3A4A"/>
                </a:solidFill>
                <a:latin typeface="Calibri"/>
              </a:defRPr>
            </a:pPr>
            <a:r>
              <a:t>To provide venue owners a dashboard for managing their schedules, tracking payments, and viewing booking history.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617720"/>
            <a:ext cx="411480" cy="41148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4636007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636007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D3A4A"/>
                </a:solidFill>
                <a:latin typeface="Calibri"/>
              </a:defRPr>
            </a:pPr>
            <a:r>
              <a:rPr dirty="0"/>
              <a:t>To enable creation and management of local tournaments with automated bracket generation and live score updates.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486400"/>
            <a:ext cx="411480" cy="41148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550468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5504688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D3A4A"/>
                </a:solidFill>
                <a:latin typeface="Calibri"/>
              </a:defRPr>
            </a:pPr>
            <a:r>
              <a:t>To implement a hybrid database architecture using SQL for structured booking data and NoSQL for flexible match statistics.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54864" cy="685800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73E8"/>
                </a:solidFill>
                <a:latin typeface="Calibri"/>
              </a:defRPr>
            </a:pPr>
            <a:r>
              <a:t>04  TOOLS &amp; TECHNOLOGIES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A1A2E"/>
                </a:solidFill>
                <a:latin typeface="Calibri"/>
              </a:defRPr>
            </a:pPr>
            <a:r>
              <a:t>Tech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120640" cy="1828800"/>
          </a:xfrm>
          <a:prstGeom prst="roundRect">
            <a:avLst/>
          </a:prstGeom>
          <a:solidFill>
            <a:srgbClr val="F0F4F8"/>
          </a:solidFill>
          <a:ln w="1524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120640" cy="54864"/>
          </a:xfrm>
          <a:prstGeom prst="roundRect">
            <a:avLst/>
          </a:prstGeom>
          <a:solidFill>
            <a:srgbClr val="E34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34C26"/>
                </a:solidFill>
                <a:latin typeface="Calibri"/>
              </a:defRPr>
            </a:pPr>
            <a:r>
              <a:t>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31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1A2E"/>
                </a:solidFill>
                <a:latin typeface="Calibri"/>
              </a:defRPr>
            </a:pPr>
            <a:r>
              <a:t>HTML5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3464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F6B7A"/>
                </a:solidFill>
                <a:latin typeface="Calibri"/>
              </a:defRPr>
            </a:pPr>
            <a:r>
              <a:t>Page layouts — booking forms, venue listings, tournament brackets, and dashboard views.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59" y="1828800"/>
            <a:ext cx="5120640" cy="1828800"/>
          </a:xfrm>
          <a:prstGeom prst="roundRect">
            <a:avLst/>
          </a:prstGeom>
          <a:solidFill>
            <a:srgbClr val="F0F4F8"/>
          </a:solidFill>
          <a:ln w="1524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309359" y="1828800"/>
            <a:ext cx="5120640" cy="54864"/>
          </a:xfrm>
          <a:prstGeom prst="roundRect">
            <a:avLst/>
          </a:prstGeom>
          <a:solidFill>
            <a:srgbClr val="264D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79" y="2011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64DE4"/>
                </a:solidFill>
                <a:latin typeface="Calibri"/>
              </a:defRPr>
            </a:pPr>
            <a:r>
              <a:t>Styling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79" y="2331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1A2E"/>
                </a:solidFill>
                <a:latin typeface="Calibri"/>
              </a:defRPr>
            </a:pPr>
            <a:r>
              <a:t>CSS3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79" y="283464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F6B7A"/>
                </a:solidFill>
                <a:latin typeface="Calibri"/>
              </a:defRPr>
            </a:pPr>
            <a:r>
              <a:t>Visual design — light/dark themed UI, responsive cards, status badges, calendar grids, and navigation.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931920"/>
            <a:ext cx="5120640" cy="1828800"/>
          </a:xfrm>
          <a:prstGeom prst="roundRect">
            <a:avLst/>
          </a:prstGeom>
          <a:solidFill>
            <a:srgbClr val="F0F4F8"/>
          </a:solidFill>
          <a:ln w="1524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731520" y="3931920"/>
            <a:ext cx="5120640" cy="54864"/>
          </a:xfrm>
          <a:prstGeom prst="roundRect">
            <a:avLst/>
          </a:prstGeom>
          <a:solidFill>
            <a:srgbClr val="B89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" y="4114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B89600"/>
                </a:solidFill>
                <a:latin typeface="Calibri"/>
              </a:defRPr>
            </a:pPr>
            <a:r>
              <a:t>Logic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434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1A2E"/>
                </a:solidFill>
                <a:latin typeface="Calibri"/>
              </a:defRPr>
            </a:pPr>
            <a:r>
              <a:t>JavaScript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9377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F6B7A"/>
                </a:solidFill>
                <a:latin typeface="Calibri"/>
              </a:defRPr>
            </a:pPr>
            <a:r>
              <a:t>User interactions — slot selection, form validation, filtering venues by sport, and page switching.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59" y="3931920"/>
            <a:ext cx="5120640" cy="1828800"/>
          </a:xfrm>
          <a:prstGeom prst="roundRect">
            <a:avLst/>
          </a:prstGeom>
          <a:solidFill>
            <a:srgbClr val="F0F4F8"/>
          </a:solidFill>
          <a:ln w="1524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309359" y="3931920"/>
            <a:ext cx="5120640" cy="54864"/>
          </a:xfrm>
          <a:prstGeom prst="roundRect">
            <a:avLst/>
          </a:prstGeom>
          <a:solidFill>
            <a:srgbClr val="ED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83679" y="4114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D8B00"/>
                </a:solidFill>
                <a:latin typeface="Calibri"/>
              </a:defRPr>
            </a:pPr>
            <a:r>
              <a:t>Backend &amp; Database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79" y="4434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1A2E"/>
                </a:solidFill>
                <a:latin typeface="Calibri"/>
              </a:defRPr>
            </a:pPr>
            <a:r>
              <a:t>Java + MySQL + MongoDB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79" y="49377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F6B7A"/>
                </a:solidFill>
                <a:latin typeface="Calibri"/>
              </a:defRPr>
            </a:pPr>
            <a:r>
              <a:t>Java (JDBC) connects frontend to MySQL for bookings. MongoDB stores live scores and player stats.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943600"/>
            <a:ext cx="10698480" cy="502920"/>
          </a:xfrm>
          <a:prstGeom prst="roundRect">
            <a:avLst/>
          </a:prstGeom>
          <a:solidFill>
            <a:srgbClr val="F0F4F8"/>
          </a:solidFill>
          <a:ln w="1524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05840" y="5961888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D47A1"/>
                </a:solidFill>
                <a:latin typeface="Calibri"/>
              </a:defRPr>
            </a:pPr>
            <a:r>
              <a:t>Full-Stack Deployment: 9 Java Servlets, 7 JDBC DAOs, 12 3NF MySQL 8.0 Tables, 2 Triggers, Apache Tomcat 9 (Port 8085) &amp; Mobile PWA.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60A00C-EB09-E7D6-E97B-8F05E1367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>
            <a:extLst>
              <a:ext uri="{FF2B5EF4-FFF2-40B4-BE49-F238E27FC236}">
                <a16:creationId xmlns:a16="http://schemas.microsoft.com/office/drawing/2014/main" id="{3B3610CB-AA65-954F-074E-A1CD838658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631231"/>
            <a:ext cx="9363075" cy="1076325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0773522B-484F-6912-DFF3-8E9E15F767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1441256"/>
            <a:ext cx="12192001" cy="5790873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0F5FDDD-D967-1AF3-1B81-59BF0831B58C}"/>
                  </a:ext>
                </a:extLst>
              </p14:cNvPr>
              <p14:cNvContentPartPr/>
              <p14:nvPr/>
            </p14:nvContentPartPr>
            <p14:xfrm>
              <a:off x="4679930" y="3971950"/>
              <a:ext cx="360" cy="3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0F5FDDD-D967-1AF3-1B81-59BF0831B58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17290" y="3909310"/>
                <a:ext cx="126000" cy="12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950134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C94AA5-077D-0809-58A2-2C2B2F574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E3B1BB1A-F4E0-D864-7819-40A1EF77BAC7}"/>
              </a:ext>
            </a:extLst>
          </p:cNvPr>
          <p:cNvSpPr txBox="1"/>
          <p:nvPr/>
        </p:nvSpPr>
        <p:spPr>
          <a:xfrm>
            <a:off x="540774" y="403123"/>
            <a:ext cx="60763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ER DIAGRAM</a:t>
            </a:r>
            <a:endParaRPr lang="en-IN" sz="3600" b="1" dirty="0"/>
          </a:p>
        </p:txBody>
      </p:sp>
      <p:pic>
        <p:nvPicPr>
          <p:cNvPr id="23" name="ER diagram of Slotit" descr="ER diagram of Slotit" title="ER diagram of Slotit">
            <a:extLst>
              <a:ext uri="{FF2B5EF4-FFF2-40B4-BE49-F238E27FC236}">
                <a16:creationId xmlns:a16="http://schemas.microsoft.com/office/drawing/2014/main" id="{11743DF7-3590-C62E-3D00-6EF19100113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02195" y="1150373"/>
            <a:ext cx="6990734" cy="566000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5819761-9D67-7A14-5C45-1002DF01FA8F}"/>
                  </a:ext>
                </a:extLst>
              </p14:cNvPr>
              <p14:cNvContentPartPr/>
              <p14:nvPr/>
            </p14:nvContentPartPr>
            <p14:xfrm>
              <a:off x="3077210" y="6276468"/>
              <a:ext cx="2830680" cy="5551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5819761-9D67-7A14-5C45-1002DF01FA8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014570" y="6213468"/>
                <a:ext cx="2956320" cy="680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990202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0" y="0"/>
            <a:ext cx="54864" cy="685800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457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73E8"/>
                </a:solidFill>
                <a:latin typeface="Calibri"/>
              </a:defRPr>
            </a:pPr>
            <a:r>
              <a:t>06  SYSTEM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A1A2E"/>
                </a:solidFill>
                <a:latin typeface="Calibri"/>
              </a:defRPr>
            </a:pPr>
            <a:r>
              <a:t>Three-Tier Architecture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11680"/>
            <a:ext cx="3291840" cy="3840480"/>
          </a:xfrm>
          <a:prstGeom prst="roundRect">
            <a:avLst/>
          </a:prstGeom>
          <a:solidFill>
            <a:srgbClr val="F0F4F8"/>
          </a:solidFill>
          <a:ln w="1524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21945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2D3A4A"/>
                </a:solidFill>
                <a:latin typeface="Calibri"/>
              </a:defRPr>
            </a:pPr>
            <a:r>
              <a:t>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743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Calibri"/>
              </a:defRPr>
            </a:pPr>
            <a:r>
              <a:t>1. Presentation Tier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291840"/>
            <a:ext cx="2743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5F6B7A"/>
                </a:solidFill>
                <a:latin typeface="Calibri"/>
              </a:defRPr>
            </a:pPr>
            <a:r>
              <a:t>Mobile-first Progressive Web App (14 HTML5, CSS3 &amp; JS screens).</a:t>
            </a:r>
          </a:p>
          <a:p>
            <a:pPr algn="l">
              <a:spcAft>
                <a:spcPts val="600"/>
              </a:spcAft>
              <a:defRPr sz="800" b="0">
                <a:solidFill>
                  <a:srgbClr val="5F6B7A"/>
                </a:solidFill>
                <a:latin typeface="Calibri"/>
              </a:defRPr>
            </a:pPr>
            <a:endParaRPr/>
          </a:p>
          <a:p>
            <a:pPr algn="l">
              <a:spcAft>
                <a:spcPts val="600"/>
              </a:spcAft>
              <a:defRPr sz="1500" b="0">
                <a:solidFill>
                  <a:srgbClr val="0D47A1"/>
                </a:solidFill>
                <a:latin typeface="Calibri"/>
              </a:defRPr>
            </a:pPr>
            <a:r>
              <a:t>Includes 30s cache, 900ms timeout, and offline fallback.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59" y="2011680"/>
            <a:ext cx="3291840" cy="3840480"/>
          </a:xfrm>
          <a:prstGeom prst="roundRect">
            <a:avLst/>
          </a:prstGeom>
          <a:solidFill>
            <a:srgbClr val="F0F4F8"/>
          </a:solidFill>
          <a:ln w="1524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54879" y="21945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2D3A4A"/>
                </a:solidFill>
                <a:latin typeface="Calibri"/>
              </a:defRPr>
            </a:pPr>
            <a:r>
              <a:t>⚙️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79" y="2743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Calibri"/>
              </a:defRPr>
            </a:pPr>
            <a:r>
              <a:t>2. Application Tier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79" y="3291840"/>
            <a:ext cx="2743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5F6B7A"/>
                </a:solidFill>
                <a:latin typeface="Calibri"/>
              </a:defRPr>
            </a:pPr>
            <a:r>
              <a:t>9 Java Servlets &amp; 7 JDBC DAOs running on Apache Tomcat 9 (Port 8085).</a:t>
            </a:r>
          </a:p>
          <a:p>
            <a:pPr algn="l">
              <a:spcAft>
                <a:spcPts val="600"/>
              </a:spcAft>
              <a:defRPr sz="800" b="0">
                <a:solidFill>
                  <a:srgbClr val="5F6B7A"/>
                </a:solidFill>
                <a:latin typeface="Calibri"/>
              </a:defRPr>
            </a:pPr>
            <a:endParaRPr/>
          </a:p>
          <a:p>
            <a:pPr algn="l">
              <a:spcAft>
                <a:spcPts val="600"/>
              </a:spcAft>
              <a:defRPr sz="1500" b="0">
                <a:solidFill>
                  <a:srgbClr val="0D47A1"/>
                </a:solidFill>
                <a:latin typeface="Calibri"/>
              </a:defRPr>
            </a:pPr>
            <a:r>
              <a:t>Handles REST APIs, BCrypt security, and ACID transactions.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2011680"/>
            <a:ext cx="3291840" cy="3840480"/>
          </a:xfrm>
          <a:prstGeom prst="roundRect">
            <a:avLst/>
          </a:prstGeom>
          <a:solidFill>
            <a:srgbClr val="F0F4F8"/>
          </a:solidFill>
          <a:ln w="1524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03920" y="21945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2D3A4A"/>
                </a:solidFill>
                <a:latin typeface="Calibri"/>
              </a:defRPr>
            </a:pPr>
            <a:r>
              <a:t>🗄️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2743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Calibri"/>
              </a:defRPr>
            </a:pPr>
            <a:r>
              <a:t>3. Database Tier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3291840"/>
            <a:ext cx="2743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5F6B7A"/>
                </a:solidFill>
                <a:latin typeface="Calibri"/>
              </a:defRPr>
            </a:pPr>
            <a:r>
              <a:t>MySQL 8.0 (12 tables in 3NF, 5 indexes, 2 triggers) for bookings.</a:t>
            </a:r>
          </a:p>
          <a:p>
            <a:pPr algn="l">
              <a:spcAft>
                <a:spcPts val="600"/>
              </a:spcAft>
              <a:defRPr sz="800" b="0">
                <a:solidFill>
                  <a:srgbClr val="5F6B7A"/>
                </a:solidFill>
                <a:latin typeface="Calibri"/>
              </a:defRPr>
            </a:pPr>
            <a:endParaRPr/>
          </a:p>
          <a:p>
            <a:pPr algn="l">
              <a:spcAft>
                <a:spcPts val="600"/>
              </a:spcAft>
              <a:defRPr sz="1500" b="0">
                <a:solidFill>
                  <a:srgbClr val="0D47A1"/>
                </a:solidFill>
                <a:latin typeface="Calibri"/>
              </a:defRPr>
            </a:pPr>
            <a:r>
              <a:t>MongoDB (3 collections) for flexible player stats &amp; photos.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0" y="0"/>
            <a:ext cx="54864" cy="685800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457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73E8"/>
                </a:solidFill>
                <a:latin typeface="Calibri"/>
              </a:defRPr>
            </a:pPr>
            <a:r>
              <a:t>07  RELATIONAL SCHEMA (3NF)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A1A2E"/>
                </a:solidFill>
                <a:latin typeface="Calibri"/>
              </a:defRPr>
            </a:pPr>
            <a:r>
              <a:t>12 Tables in MySQL 8.0 (slotit_db)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5120640" cy="1828800"/>
          </a:xfrm>
          <a:prstGeom prst="roundRect">
            <a:avLst/>
          </a:prstGeom>
          <a:solidFill>
            <a:srgbClr val="F0F4F8"/>
          </a:solidFill>
          <a:ln w="1524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120640" cy="54864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2011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73E8"/>
                </a:solidFill>
                <a:latin typeface="Calibri"/>
              </a:defRPr>
            </a:pPr>
            <a:r>
              <a:t>Users &amp; Wallets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331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1A1A2E"/>
                </a:solidFill>
                <a:latin typeface="Calibri"/>
              </a:defRPr>
            </a:pPr>
            <a:r>
              <a:t>users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83464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>
                <a:solidFill>
                  <a:srgbClr val="5F6B7A"/>
                </a:solidFill>
                <a:latin typeface="Calibri"/>
              </a:defRPr>
            </a:pPr>
            <a:r>
              <a:t>Stores player, owner &amp; admin accounts, BCrypt password hashes, wallet balance, streak count, and loyalty badge.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59" y="1828800"/>
            <a:ext cx="5120640" cy="1828800"/>
          </a:xfrm>
          <a:prstGeom prst="roundRect">
            <a:avLst/>
          </a:prstGeom>
          <a:solidFill>
            <a:srgbClr val="F0F4F8"/>
          </a:solidFill>
          <a:ln w="1524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309359" y="1828800"/>
            <a:ext cx="5120640" cy="54864"/>
          </a:xfrm>
          <a:prstGeom prst="roundRect">
            <a:avLst/>
          </a:prstGeom>
          <a:solidFill>
            <a:srgbClr val="0D8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79" y="2011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8050"/>
                </a:solidFill>
                <a:latin typeface="Calibri"/>
              </a:defRPr>
            </a:pPr>
            <a:r>
              <a:t>Venues, Courts &amp; Slots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79" y="2331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1A1A2E"/>
                </a:solidFill>
                <a:latin typeface="Calibri"/>
              </a:defRPr>
            </a:pPr>
            <a:r>
              <a:t>venues • courts • time_slots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79" y="283464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>
                <a:solidFill>
                  <a:srgbClr val="5F6B7A"/>
                </a:solidFill>
                <a:latin typeface="Calibri"/>
              </a:defRPr>
            </a:pPr>
            <a:r>
              <a:t>17 venues (4 cities), 34 courts, and 2,618 hourly slots. Enforces UNIQUE(court_id, slot_date, start_time).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931920"/>
            <a:ext cx="5120640" cy="1828800"/>
          </a:xfrm>
          <a:prstGeom prst="roundRect">
            <a:avLst/>
          </a:prstGeom>
          <a:solidFill>
            <a:srgbClr val="F0F4F8"/>
          </a:solidFill>
          <a:ln w="1524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31520" y="3931920"/>
            <a:ext cx="5120640" cy="54864"/>
          </a:xfrm>
          <a:prstGeom prst="roundRect">
            <a:avLst/>
          </a:prstGeom>
          <a:solidFill>
            <a:srgbClr val="D9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05840" y="4114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96C00"/>
                </a:solidFill>
                <a:latin typeface="Calibri"/>
              </a:defRPr>
            </a:pPr>
            <a:r>
              <a:t>Bookings &amp; Waitlist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434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1A1A2E"/>
                </a:solidFill>
                <a:latin typeface="Calibri"/>
              </a:defRPr>
            </a:pPr>
            <a:r>
              <a:t>bookings • waitlist • notifications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9377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>
                <a:solidFill>
                  <a:srgbClr val="5F6B7A"/>
                </a:solidFill>
                <a:latin typeface="Calibri"/>
              </a:defRPr>
            </a:pPr>
            <a:r>
              <a:t>Records confirmed &amp; refunded bookings, tracks waitlisted players, and stores automatic trigger alerts.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59" y="3931920"/>
            <a:ext cx="5120640" cy="1828800"/>
          </a:xfrm>
          <a:prstGeom prst="roundRect">
            <a:avLst/>
          </a:prstGeom>
          <a:solidFill>
            <a:srgbClr val="F0F4F8"/>
          </a:solidFill>
          <a:ln w="1524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309359" y="3931920"/>
            <a:ext cx="5120640" cy="54864"/>
          </a:xfrm>
          <a:prstGeom prst="roundRect">
            <a:avLst/>
          </a:prstGeom>
          <a:solidFill>
            <a:srgbClr val="D93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83679" y="4114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93025"/>
                </a:solidFill>
                <a:latin typeface="Calibri"/>
              </a:defRPr>
            </a:pPr>
            <a:r>
              <a:t>Tournaments &amp; Squads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79" y="4434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1A1A2E"/>
                </a:solidFill>
                <a:latin typeface="Calibri"/>
              </a:defRPr>
            </a:pPr>
            <a:r>
              <a:t>tournaments • teams • matches • squads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14160" y="5025267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>
                <a:solidFill>
                  <a:srgbClr val="5F6B7A"/>
                </a:solidFill>
                <a:latin typeface="Calibri"/>
              </a:defRPr>
            </a:pPr>
            <a:r>
              <a:rPr dirty="0"/>
              <a:t>Manages tournament registrations, knockout match fixtures, and solo player matchmaking requests.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0" y="0"/>
            <a:ext cx="54864" cy="685800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457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73E8"/>
                </a:solidFill>
                <a:latin typeface="Calibri"/>
              </a:defRPr>
            </a:pPr>
            <a:r>
              <a:t>08  CORE DBMS IMPLEMENTATION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A1A2E"/>
                </a:solidFill>
                <a:latin typeface="Calibri"/>
              </a:defRPr>
            </a:pPr>
            <a:r>
              <a:t>How the Database Solves Key Problems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920240"/>
            <a:ext cx="411480" cy="41148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93852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938528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D3A4A"/>
                </a:solidFill>
                <a:latin typeface="Calibri"/>
              </a:defRPr>
            </a:pPr>
            <a:r>
              <a:t>Row-Level Locking (SELECT ... FOR UPDATE): Locks the slot row during checkout so two users can never book the same slot.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788920"/>
            <a:ext cx="411480" cy="41148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280720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807208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D3A4A"/>
                </a:solidFill>
                <a:latin typeface="Calibri"/>
              </a:defRPr>
            </a:pPr>
            <a:r>
              <a:t>ACID Wallet Transactions: Wallet deduction, slot status update, and booking insert happen together or roll back completely.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657600"/>
            <a:ext cx="411480" cy="41148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3675887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675887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D3A4A"/>
                </a:solidFill>
                <a:latin typeface="Calibri"/>
              </a:defRPr>
            </a:pPr>
            <a:r>
              <a:t>Automated Triggers: trg_update_streak adds +1 to booking streak; trg_slot_drop_notify alerts waitlisted users on cancel.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526279"/>
            <a:ext cx="411480" cy="41148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4544567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544567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D3A4A"/>
                </a:solidFill>
                <a:latin typeface="Calibri"/>
              </a:defRPr>
            </a:pPr>
            <a:r>
              <a:t>HotSlot Dynamic Pricing: SQL CASE query applies a 1.25x–1.50x multiplier for peak floodlit evening hours (5 PM – 9 PM).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394960"/>
            <a:ext cx="411480" cy="41148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" y="541324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5413248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D3A4A"/>
                </a:solidFill>
                <a:latin typeface="Calibri"/>
              </a:defRPr>
            </a:pPr>
            <a:r>
              <a:t>Haversine Geospatial Search: Calculates real distance in km inside SQL using an index on (latitude, longitude).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5FF0657-9AE1-84DA-F226-03A2861CFFB1}"/>
              </a:ext>
            </a:extLst>
          </p:cNvPr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058528-D51C-AEE8-0711-97418149AE32}"/>
              </a:ext>
            </a:extLst>
          </p:cNvPr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A73E8"/>
                </a:solidFill>
                <a:latin typeface="Calibri"/>
              </a:defRPr>
            </a:pPr>
            <a:r>
              <a:t>DBMS CORE FEATURE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80CEA8-3968-B750-FBF7-142A913A483F}"/>
              </a:ext>
            </a:extLst>
          </p:cNvPr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2E66"/>
                </a:solidFill>
                <a:latin typeface="Calibri"/>
              </a:defRPr>
            </a:pPr>
            <a:r>
              <a:t>Concurrency Control &amp; ACID Transaction Engine</a:t>
            </a:r>
          </a:p>
        </p:txBody>
      </p:sp>
      <p:sp>
        <p:nvSpPr>
          <p:cNvPr id="9" name="Rounded Rectangle 4">
            <a:extLst>
              <a:ext uri="{FF2B5EF4-FFF2-40B4-BE49-F238E27FC236}">
                <a16:creationId xmlns:a16="http://schemas.microsoft.com/office/drawing/2014/main" id="{651879A3-24E3-75F7-29C7-BBE338502C63}"/>
              </a:ext>
            </a:extLst>
          </p:cNvPr>
          <p:cNvSpPr/>
          <p:nvPr/>
        </p:nvSpPr>
        <p:spPr>
          <a:xfrm>
            <a:off x="731520" y="1554480"/>
            <a:ext cx="493776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D1680D4-7281-5ED0-A5B7-74FF3C5A65FE}"/>
              </a:ext>
            </a:extLst>
          </p:cNvPr>
          <p:cNvSpPr txBox="1"/>
          <p:nvPr/>
        </p:nvSpPr>
        <p:spPr>
          <a:xfrm>
            <a:off x="914400" y="169164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F4444"/>
                </a:solidFill>
              </a:defRPr>
            </a:pPr>
            <a:r>
              <a:t>The Double-Booking Problem</a:t>
            </a:r>
          </a:p>
          <a:p>
            <a:pPr>
              <a:spcBef>
                <a:spcPts val="600"/>
              </a:spcBef>
              <a:defRPr sz="1300">
                <a:solidFill>
                  <a:srgbClr val="1E293B"/>
                </a:solidFill>
              </a:defRPr>
            </a:pPr>
            <a:r>
              <a:t>In high-demand sports venues, two players frequently attempt to book the exact same 7:00 PM slot at the same millisecond. Without strict isolation, both payments succeed, causing venue conflict.</a:t>
            </a:r>
          </a:p>
          <a:p>
            <a:pPr>
              <a:spcBef>
                <a:spcPts val="1400"/>
              </a:spcBef>
              <a:defRPr sz="1500" b="1">
                <a:solidFill>
                  <a:srgbClr val="0F2E66"/>
                </a:solidFill>
              </a:defRPr>
            </a:pPr>
            <a:r>
              <a:t>ACID Implementation in BookingDAO.java</a:t>
            </a:r>
          </a:p>
          <a:p>
            <a:pPr>
              <a:spcBef>
                <a:spcPts val="600"/>
              </a:spcBef>
              <a:defRPr sz="1200">
                <a:solidFill>
                  <a:srgbClr val="64748B"/>
                </a:solidFill>
              </a:defRPr>
            </a:pPr>
            <a:r>
              <a:t>• Atomicity: All 4 actions (Lock slot → Check balance → Deduct wallet → Record booking) commit together or full rollback occurs.</a:t>
            </a:r>
          </a:p>
          <a:p>
            <a:pPr>
              <a:spcBef>
                <a:spcPts val="600"/>
              </a:spcBef>
              <a:defRPr sz="1200">
                <a:solidFill>
                  <a:srgbClr val="64748B"/>
                </a:solidFill>
              </a:defRPr>
            </a:pPr>
            <a:r>
              <a:t>• Consistency: Foreign keys and table status constraints ensure slots never transition into an invalid or orphaned state.</a:t>
            </a:r>
          </a:p>
          <a:p>
            <a:pPr>
              <a:spcBef>
                <a:spcPts val="600"/>
              </a:spcBef>
              <a:defRPr sz="1200">
                <a:solidFill>
                  <a:srgbClr val="64748B"/>
                </a:solidFill>
              </a:defRPr>
            </a:pPr>
            <a:r>
              <a:t>• Isolation: Pessimistic row-level locking via SELECT ... FOR UPDATE forces concurrent attempts to queue safely.</a:t>
            </a:r>
          </a:p>
          <a:p>
            <a:pPr>
              <a:spcBef>
                <a:spcPts val="600"/>
              </a:spcBef>
              <a:defRPr sz="1200">
                <a:solidFill>
                  <a:srgbClr val="64748B"/>
                </a:solidFill>
              </a:defRPr>
            </a:pPr>
            <a:r>
              <a:t>• Durability: Committed bookings are permanently written to MySQL storage before returning HTTP 200.</a:t>
            </a:r>
          </a:p>
        </p:txBody>
      </p:sp>
      <p:sp>
        <p:nvSpPr>
          <p:cNvPr id="13" name="Rounded Rectangle 6">
            <a:extLst>
              <a:ext uri="{FF2B5EF4-FFF2-40B4-BE49-F238E27FC236}">
                <a16:creationId xmlns:a16="http://schemas.microsoft.com/office/drawing/2014/main" id="{DCAAAB41-CEE9-08CE-2F62-ED25E8DEC747}"/>
              </a:ext>
            </a:extLst>
          </p:cNvPr>
          <p:cNvSpPr/>
          <p:nvPr/>
        </p:nvSpPr>
        <p:spPr>
          <a:xfrm>
            <a:off x="5943600" y="1554480"/>
            <a:ext cx="5486400" cy="4663440"/>
          </a:xfrm>
          <a:prstGeom prst="round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04A911A-4116-1352-CA3E-111621CEC477}"/>
              </a:ext>
            </a:extLst>
          </p:cNvPr>
          <p:cNvSpPr txBox="1"/>
          <p:nvPr/>
        </p:nvSpPr>
        <p:spPr>
          <a:xfrm>
            <a:off x="612648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8BDF8"/>
                </a:solidFill>
                <a:latin typeface="Consolas"/>
              </a:defRPr>
            </a:pPr>
            <a:r>
              <a:t>// Pessimistic Locking Transaction in Java JDBC</a:t>
            </a:r>
          </a:p>
          <a:p>
            <a:pPr>
              <a:defRPr sz="1050">
                <a:solidFill>
                  <a:srgbClr val="E2E8F0"/>
                </a:solidFill>
                <a:latin typeface="Consolas"/>
              </a:defRPr>
            </a:pPr>
            <a:r>
              <a:t>conn.setAutoCommit(false); // Begin Transaction</a:t>
            </a:r>
          </a:p>
          <a:p>
            <a:pPr>
              <a:defRPr sz="1050">
                <a:solidFill>
                  <a:srgbClr val="E2E8F0"/>
                </a:solidFill>
                <a:latin typeface="Consolas"/>
              </a:defRPr>
            </a:pPr>
            <a:endParaRPr/>
          </a:p>
          <a:p>
            <a:pPr>
              <a:defRPr sz="1050">
                <a:solidFill>
                  <a:srgbClr val="E2E8F0"/>
                </a:solidFill>
                <a:latin typeface="Consolas"/>
              </a:defRPr>
            </a:pPr>
            <a:r>
              <a:t>// 1. Lock slot row exclusively</a:t>
            </a:r>
          </a:p>
          <a:p>
            <a:pPr>
              <a:defRPr sz="1050">
                <a:solidFill>
                  <a:srgbClr val="E2E8F0"/>
                </a:solidFill>
                <a:latin typeface="Consolas"/>
              </a:defRPr>
            </a:pPr>
            <a:r>
              <a:t>String lockSql = "SELECT status FROM time_slots " +</a:t>
            </a:r>
          </a:p>
          <a:p>
            <a:pPr>
              <a:defRPr sz="1050">
                <a:solidFill>
                  <a:srgbClr val="E2E8F0"/>
                </a:solidFill>
                <a:latin typeface="Consolas"/>
              </a:defRPr>
            </a:pPr>
            <a:r>
              <a:t>                 "WHERE slot_id = ? FOR UPDATE";</a:t>
            </a:r>
          </a:p>
          <a:p>
            <a:pPr>
              <a:defRPr sz="1050">
                <a:solidFill>
                  <a:srgbClr val="E2E8F0"/>
                </a:solidFill>
                <a:latin typeface="Consolas"/>
              </a:defRPr>
            </a:pPr>
            <a:r>
              <a:t>stmt = conn.prepareStatement(lockSql);</a:t>
            </a:r>
          </a:p>
          <a:p>
            <a:pPr>
              <a:defRPr sz="1050">
                <a:solidFill>
                  <a:srgbClr val="E2E8F0"/>
                </a:solidFill>
                <a:latin typeface="Consolas"/>
              </a:defRPr>
            </a:pPr>
            <a:r>
              <a:t>rs = stmt.executeQuery();</a:t>
            </a:r>
          </a:p>
          <a:p>
            <a:pPr>
              <a:defRPr sz="1050">
                <a:solidFill>
                  <a:srgbClr val="E2E8F0"/>
                </a:solidFill>
                <a:latin typeface="Consolas"/>
              </a:defRPr>
            </a:pPr>
            <a:r>
              <a:t>if (!rs.getString("status").equals("available")) {</a:t>
            </a:r>
          </a:p>
          <a:p>
            <a:pPr>
              <a:defRPr sz="1050">
                <a:solidFill>
                  <a:srgbClr val="E2E8F0"/>
                </a:solidFill>
                <a:latin typeface="Consolas"/>
              </a:defRPr>
            </a:pPr>
            <a:r>
              <a:t>    conn.rollback();</a:t>
            </a:r>
          </a:p>
          <a:p>
            <a:pPr>
              <a:defRPr sz="1050">
                <a:solidFill>
                  <a:srgbClr val="E2E8F0"/>
                </a:solidFill>
                <a:latin typeface="Consolas"/>
              </a:defRPr>
            </a:pPr>
            <a:r>
              <a:t>    throw new ConflictException("Slot booked!");</a:t>
            </a:r>
          </a:p>
          <a:p>
            <a:pPr>
              <a:defRPr sz="1050">
                <a:solidFill>
                  <a:srgbClr val="E2E8F0"/>
                </a:solidFill>
                <a:latin typeface="Consolas"/>
              </a:defRPr>
            </a:pPr>
            <a:r>
              <a:t>}</a:t>
            </a:r>
          </a:p>
          <a:p>
            <a:pPr>
              <a:defRPr sz="1050">
                <a:solidFill>
                  <a:srgbClr val="E2E8F0"/>
                </a:solidFill>
                <a:latin typeface="Consolas"/>
              </a:defRPr>
            </a:pPr>
            <a:endParaRPr/>
          </a:p>
          <a:p>
            <a:pPr>
              <a:defRPr sz="1050">
                <a:solidFill>
                  <a:srgbClr val="E2E8F0"/>
                </a:solidFill>
                <a:latin typeface="Consolas"/>
              </a:defRPr>
            </a:pPr>
            <a:r>
              <a:t>// 2. Atomic Wallet Deduction &amp; Status Update</a:t>
            </a:r>
          </a:p>
          <a:p>
            <a:pPr>
              <a:defRPr sz="1050">
                <a:solidFill>
                  <a:srgbClr val="E2E8F0"/>
                </a:solidFill>
                <a:latin typeface="Consolas"/>
              </a:defRPr>
            </a:pPr>
            <a:r>
              <a:t>deductWallet(conn, userId, finalPrice);</a:t>
            </a:r>
          </a:p>
          <a:p>
            <a:pPr>
              <a:defRPr sz="1050">
                <a:solidFill>
                  <a:srgbClr val="E2E8F0"/>
                </a:solidFill>
                <a:latin typeface="Consolas"/>
              </a:defRPr>
            </a:pPr>
            <a:r>
              <a:t>updateSlotStatus(conn, slotId, 'booked');</a:t>
            </a:r>
          </a:p>
          <a:p>
            <a:pPr>
              <a:defRPr sz="1050">
                <a:solidFill>
                  <a:srgbClr val="E2E8F0"/>
                </a:solidFill>
                <a:latin typeface="Consolas"/>
              </a:defRPr>
            </a:pPr>
            <a:r>
              <a:t>insertBooking(conn, userId, slotId, finalPrice);</a:t>
            </a:r>
          </a:p>
          <a:p>
            <a:pPr>
              <a:defRPr sz="1050">
                <a:solidFill>
                  <a:srgbClr val="E2E8F0"/>
                </a:solidFill>
                <a:latin typeface="Consolas"/>
              </a:defRPr>
            </a:pPr>
            <a:endParaRPr/>
          </a:p>
          <a:p>
            <a:pPr>
              <a:defRPr sz="1050">
                <a:solidFill>
                  <a:srgbClr val="E2E8F0"/>
                </a:solidFill>
                <a:latin typeface="Consolas"/>
              </a:defRPr>
            </a:pPr>
            <a:r>
              <a:t>conn.commit(); // Successfully Committed</a:t>
            </a:r>
          </a:p>
          <a:p>
            <a:pPr>
              <a:defRPr sz="1050">
                <a:solidFill>
                  <a:srgbClr val="E2E8F0"/>
                </a:solidFill>
                <a:latin typeface="Consolas"/>
              </a:defRPr>
            </a:pPr>
            <a:r>
              <a:t>return new BookingResult(true, bookingId);</a:t>
            </a:r>
          </a:p>
        </p:txBody>
      </p:sp>
    </p:spTree>
    <p:extLst>
      <p:ext uri="{BB962C8B-B14F-4D97-AF65-F5344CB8AC3E}">
        <p14:creationId xmlns:p14="http://schemas.microsoft.com/office/powerpoint/2010/main" val="32645682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0" y="0"/>
            <a:ext cx="54864" cy="685800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457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73E8"/>
                </a:solidFill>
                <a:latin typeface="Calibri"/>
              </a:defRPr>
            </a:pPr>
            <a:r>
              <a:t>09  APPLICATION 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A1A2E"/>
                </a:solidFill>
                <a:latin typeface="Calibri"/>
              </a:defRPr>
            </a:pPr>
            <a:r>
              <a:t>Tournaments, Squad Finder &amp; Security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11680"/>
            <a:ext cx="3291840" cy="3840480"/>
          </a:xfrm>
          <a:prstGeom prst="roundRect">
            <a:avLst/>
          </a:prstGeom>
          <a:solidFill>
            <a:srgbClr val="F0F4F8"/>
          </a:solidFill>
          <a:ln w="1524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21945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2D3A4A"/>
                </a:solidFill>
                <a:latin typeface="Calibri"/>
              </a:defRPr>
            </a:pPr>
            <a:r>
              <a:t>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743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Calibri"/>
              </a:defRPr>
            </a:pPr>
            <a:r>
              <a:t>Knockout Tournaments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291840"/>
            <a:ext cx="2743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5F6B7A"/>
                </a:solidFill>
                <a:latin typeface="Calibri"/>
              </a:defRPr>
            </a:pPr>
            <a:r>
              <a:t>Locks tournament row to check max_teams and block duplicate team names.</a:t>
            </a:r>
          </a:p>
          <a:p>
            <a:pPr algn="l">
              <a:spcAft>
                <a:spcPts val="600"/>
              </a:spcAft>
              <a:defRPr sz="800" b="0">
                <a:solidFill>
                  <a:srgbClr val="5F6B7A"/>
                </a:solidFill>
                <a:latin typeface="Calibri"/>
              </a:defRPr>
            </a:pPr>
            <a:endParaRPr/>
          </a:p>
          <a:p>
            <a:pPr algn="l">
              <a:spcAft>
                <a:spcPts val="600"/>
              </a:spcAft>
              <a:defRPr sz="1500" b="0">
                <a:solidFill>
                  <a:srgbClr val="0D8050"/>
                </a:solidFill>
                <a:latin typeface="Calibri"/>
              </a:defRPr>
            </a:pPr>
            <a:r>
              <a:t>Auto-generates Round-1 fixtures using Collections.shuffle().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59" y="2011680"/>
            <a:ext cx="3291840" cy="3840480"/>
          </a:xfrm>
          <a:prstGeom prst="roundRect">
            <a:avLst/>
          </a:prstGeom>
          <a:solidFill>
            <a:srgbClr val="F0F4F8"/>
          </a:solidFill>
          <a:ln w="1524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54879" y="21945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2D3A4A"/>
                </a:solidFill>
                <a:latin typeface="Calibri"/>
              </a:defRPr>
            </a:pPr>
            <a:r>
              <a:t>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79" y="2743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Calibri"/>
              </a:defRPr>
            </a:pPr>
            <a:r>
              <a:t>Squad Finder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79" y="3291840"/>
            <a:ext cx="2743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5F6B7A"/>
                </a:solidFill>
                <a:latin typeface="Calibri"/>
              </a:defRPr>
            </a:pPr>
            <a:r>
              <a:t>Solo players post open requests for extra teammates or tap Join Squad.</a:t>
            </a:r>
          </a:p>
          <a:p>
            <a:pPr algn="l">
              <a:spcAft>
                <a:spcPts val="600"/>
              </a:spcAft>
              <a:defRPr sz="800" b="0">
                <a:solidFill>
                  <a:srgbClr val="5F6B7A"/>
                </a:solidFill>
                <a:latin typeface="Calibri"/>
              </a:defRPr>
            </a:pPr>
            <a:endParaRPr/>
          </a:p>
          <a:p>
            <a:pPr algn="l">
              <a:spcAft>
                <a:spcPts val="600"/>
              </a:spcAft>
              <a:defRPr sz="1500" b="0">
                <a:solidFill>
                  <a:srgbClr val="0D8050"/>
                </a:solidFill>
                <a:latin typeface="Calibri"/>
              </a:defRPr>
            </a:pPr>
            <a:r>
              <a:t>UNIQUE key stops duplicate joins and marks status 'full' automatically.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2011680"/>
            <a:ext cx="3291840" cy="3840480"/>
          </a:xfrm>
          <a:prstGeom prst="roundRect">
            <a:avLst/>
          </a:prstGeom>
          <a:solidFill>
            <a:srgbClr val="F0F4F8"/>
          </a:solidFill>
          <a:ln w="1524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03920" y="21945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2D3A4A"/>
                </a:solidFill>
                <a:latin typeface="Calibri"/>
              </a:defRPr>
            </a:pPr>
            <a:r>
              <a:t>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2743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Calibri"/>
              </a:defRPr>
            </a:pPr>
            <a:r>
              <a:t>Security &amp; Offline PWA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3291840"/>
            <a:ext cx="2743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5F6B7A"/>
                </a:solidFill>
                <a:latin typeface="Calibri"/>
              </a:defRPr>
            </a:pPr>
            <a:r>
              <a:t>Custom BCrypt ($2a$10$) password hashing &amp; credentials in setenv.bat.</a:t>
            </a:r>
          </a:p>
          <a:p>
            <a:pPr algn="l">
              <a:spcAft>
                <a:spcPts val="600"/>
              </a:spcAft>
              <a:defRPr sz="800" b="0">
                <a:solidFill>
                  <a:srgbClr val="5F6B7A"/>
                </a:solidFill>
                <a:latin typeface="Calibri"/>
              </a:defRPr>
            </a:pPr>
            <a:endParaRPr/>
          </a:p>
          <a:p>
            <a:pPr algn="l">
              <a:spcAft>
                <a:spcPts val="600"/>
              </a:spcAft>
              <a:defRPr sz="1500" b="0">
                <a:solidFill>
                  <a:srgbClr val="0D8050"/>
                </a:solidFill>
                <a:latin typeface="Calibri"/>
              </a:defRPr>
            </a:pPr>
            <a:r>
              <a:t>Works as an installable phone app with offline fallback.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37A300E-E345-9281-EEDA-76219103BAFC}"/>
              </a:ext>
            </a:extLst>
          </p:cNvPr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7672F1-3D8C-45A7-84C5-4DA18A37072E}"/>
              </a:ext>
            </a:extLst>
          </p:cNvPr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A73E8"/>
                </a:solidFill>
                <a:latin typeface="Calibri"/>
              </a:defRPr>
            </a:pPr>
            <a:r>
              <a:t>UI SHOWCASE 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01E8250-6693-99DF-9C1A-16CC49E64A6A}"/>
              </a:ext>
            </a:extLst>
          </p:cNvPr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2E66"/>
                </a:solidFill>
                <a:latin typeface="Calibri"/>
              </a:defRPr>
            </a:pPr>
            <a:r>
              <a:t>Authentication &amp; GPS Location Access</a:t>
            </a:r>
          </a:p>
        </p:txBody>
      </p:sp>
      <p:sp>
        <p:nvSpPr>
          <p:cNvPr id="16" name="Rounded Rectangle 4">
            <a:extLst>
              <a:ext uri="{FF2B5EF4-FFF2-40B4-BE49-F238E27FC236}">
                <a16:creationId xmlns:a16="http://schemas.microsoft.com/office/drawing/2014/main" id="{A124B8CE-96B6-CC6D-6AA7-E9F16B467C76}"/>
              </a:ext>
            </a:extLst>
          </p:cNvPr>
          <p:cNvSpPr/>
          <p:nvPr/>
        </p:nvSpPr>
        <p:spPr>
          <a:xfrm>
            <a:off x="731520" y="1554480"/>
            <a:ext cx="420624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315E781-221E-3641-84D2-F7264688AD6C}"/>
              </a:ext>
            </a:extLst>
          </p:cNvPr>
          <p:cNvSpPr txBox="1"/>
          <p:nvPr/>
        </p:nvSpPr>
        <p:spPr>
          <a:xfrm>
            <a:off x="914400" y="1691640"/>
            <a:ext cx="3840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2E66"/>
                </a:solidFill>
              </a:defRPr>
            </a:pPr>
            <a:r>
              <a:rPr dirty="0"/>
              <a:t>User Experience Highlights</a:t>
            </a:r>
          </a:p>
          <a:p>
            <a:pPr>
              <a:spcBef>
                <a:spcPts val="800"/>
              </a:spcBef>
              <a:defRPr sz="1300" b="1">
                <a:solidFill>
                  <a:srgbClr val="1A73E8"/>
                </a:solidFill>
              </a:defRPr>
            </a:pPr>
            <a:r>
              <a:rPr dirty="0"/>
              <a:t>• Secure Role Selection</a:t>
            </a:r>
          </a:p>
          <a:p>
            <a:pPr>
              <a:defRPr sz="1150">
                <a:solidFill>
                  <a:srgbClr val="64748B"/>
                </a:solidFill>
              </a:defRPr>
            </a:pPr>
            <a:r>
              <a:rPr dirty="0"/>
              <a:t>Register screen provides intuitive toggle between 'Player' and 'Venue Owner'. Controls dashboard routing upon login.</a:t>
            </a:r>
          </a:p>
          <a:p>
            <a:pPr>
              <a:spcBef>
                <a:spcPts val="800"/>
              </a:spcBef>
              <a:defRPr sz="1300" b="1">
                <a:solidFill>
                  <a:srgbClr val="1A73E8"/>
                </a:solidFill>
              </a:defRPr>
            </a:pPr>
            <a:r>
              <a:rPr dirty="0"/>
              <a:t>• Client-Side Form Validation</a:t>
            </a:r>
          </a:p>
          <a:p>
            <a:pPr>
              <a:defRPr sz="1150">
                <a:solidFill>
                  <a:srgbClr val="64748B"/>
                </a:solidFill>
              </a:defRPr>
            </a:pPr>
            <a:r>
              <a:rPr dirty="0"/>
              <a:t>Real-time regex checking for 10-digit Indian phone numbers, email syntax, and password confirmation.</a:t>
            </a:r>
          </a:p>
          <a:p>
            <a:pPr>
              <a:spcBef>
                <a:spcPts val="800"/>
              </a:spcBef>
              <a:defRPr sz="1300" b="1">
                <a:solidFill>
                  <a:srgbClr val="1A73E8"/>
                </a:solidFill>
              </a:defRPr>
            </a:pPr>
            <a:r>
              <a:rPr dirty="0"/>
              <a:t>• GPS Proximity Onboarding</a:t>
            </a:r>
          </a:p>
          <a:p>
            <a:pPr>
              <a:defRPr sz="1150">
                <a:solidFill>
                  <a:srgbClr val="64748B"/>
                </a:solidFill>
              </a:defRPr>
            </a:pPr>
            <a:r>
              <a:rPr dirty="0"/>
              <a:t>Requests HTML5 Geolocation permission. Falls back seamlessly to manual district selection (Kollam, Kochi, Trivandrum, Kozhikode).</a:t>
            </a:r>
          </a:p>
          <a:p>
            <a:pPr>
              <a:spcBef>
                <a:spcPts val="800"/>
              </a:spcBef>
              <a:defRPr sz="1300" b="1">
                <a:solidFill>
                  <a:srgbClr val="1A73E8"/>
                </a:solidFill>
              </a:defRPr>
            </a:pPr>
            <a:r>
              <a:rPr dirty="0"/>
              <a:t>• Persistent Local Storage</a:t>
            </a:r>
          </a:p>
          <a:p>
            <a:pPr>
              <a:defRPr sz="1150">
                <a:solidFill>
                  <a:srgbClr val="64748B"/>
                </a:solidFill>
              </a:defRPr>
            </a:pPr>
            <a:r>
              <a:rPr dirty="0"/>
              <a:t>Session tokens, coordinates, and role state stored locally for instant app resume.</a:t>
            </a:r>
          </a:p>
        </p:txBody>
      </p:sp>
      <p:pic>
        <p:nvPicPr>
          <p:cNvPr id="22" name="Picture 21" descr="1_login.png">
            <a:extLst>
              <a:ext uri="{FF2B5EF4-FFF2-40B4-BE49-F238E27FC236}">
                <a16:creationId xmlns:a16="http://schemas.microsoft.com/office/drawing/2014/main" id="{7655E2B2-878A-5B63-A1CC-531554EF6E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554480"/>
            <a:ext cx="2194560" cy="4663440"/>
          </a:xfrm>
          <a:prstGeom prst="rect">
            <a:avLst/>
          </a:prstGeom>
        </p:spPr>
      </p:pic>
      <p:pic>
        <p:nvPicPr>
          <p:cNvPr id="24" name="Picture 23" descr="2_register.png">
            <a:extLst>
              <a:ext uri="{FF2B5EF4-FFF2-40B4-BE49-F238E27FC236}">
                <a16:creationId xmlns:a16="http://schemas.microsoft.com/office/drawing/2014/main" id="{1F8124A5-73FF-6963-AD77-CB19C48BB5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1554480"/>
            <a:ext cx="2194560" cy="4663440"/>
          </a:xfrm>
          <a:prstGeom prst="rect">
            <a:avLst/>
          </a:prstGeom>
        </p:spPr>
      </p:pic>
      <p:pic>
        <p:nvPicPr>
          <p:cNvPr id="26" name="Picture 25" descr="1_login.png">
            <a:extLst>
              <a:ext uri="{FF2B5EF4-FFF2-40B4-BE49-F238E27FC236}">
                <a16:creationId xmlns:a16="http://schemas.microsoft.com/office/drawing/2014/main" id="{8BE0FA4C-90C8-22CB-F50B-F37DE39DFE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0" y="1554480"/>
            <a:ext cx="219456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8A622CF-2277-283D-6E76-53CCC4D3DBC8}"/>
              </a:ext>
            </a:extLst>
          </p:cNvPr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53807CC-4632-44AE-046F-B9139F63DE33}"/>
              </a:ext>
            </a:extLst>
          </p:cNvPr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A73E8"/>
                </a:solidFill>
                <a:latin typeface="Calibri"/>
              </a:defRPr>
            </a:pPr>
            <a:r>
              <a:t>UI SHOWCASE 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430E5A6-E7C0-EF0E-02B1-B8909F9A8FFF}"/>
              </a:ext>
            </a:extLst>
          </p:cNvPr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2E66"/>
                </a:solidFill>
                <a:latin typeface="Calibri"/>
              </a:defRPr>
            </a:pPr>
            <a:r>
              <a:t>Smart Venue Discovery &amp; Weather Intelligence</a:t>
            </a:r>
          </a:p>
        </p:txBody>
      </p:sp>
      <p:sp>
        <p:nvSpPr>
          <p:cNvPr id="18" name="Rounded Rectangle 4">
            <a:extLst>
              <a:ext uri="{FF2B5EF4-FFF2-40B4-BE49-F238E27FC236}">
                <a16:creationId xmlns:a16="http://schemas.microsoft.com/office/drawing/2014/main" id="{FEEA27A4-BE63-364B-5EB3-7BB99D080CE6}"/>
              </a:ext>
            </a:extLst>
          </p:cNvPr>
          <p:cNvSpPr/>
          <p:nvPr/>
        </p:nvSpPr>
        <p:spPr>
          <a:xfrm>
            <a:off x="731520" y="1554480"/>
            <a:ext cx="566928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9E3CBEC-0FC6-C0C3-0C44-6060E7D43CF9}"/>
              </a:ext>
            </a:extLst>
          </p:cNvPr>
          <p:cNvSpPr txBox="1"/>
          <p:nvPr/>
        </p:nvSpPr>
        <p:spPr>
          <a:xfrm>
            <a:off x="914400" y="1691640"/>
            <a:ext cx="5303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2E66"/>
                </a:solidFill>
              </a:defRPr>
            </a:pPr>
            <a:r>
              <a:rPr dirty="0"/>
              <a:t>Intelligent Venue Discovery</a:t>
            </a:r>
          </a:p>
          <a:p>
            <a:pPr>
              <a:spcBef>
                <a:spcPts val="800"/>
              </a:spcBef>
              <a:defRPr sz="1300" b="1">
                <a:solidFill>
                  <a:srgbClr val="1A73E8"/>
                </a:solidFill>
              </a:defRPr>
            </a:pPr>
            <a:r>
              <a:rPr dirty="0"/>
              <a:t>• Proximity Sorting</a:t>
            </a:r>
          </a:p>
          <a:p>
            <a:pPr>
              <a:defRPr sz="1150">
                <a:solidFill>
                  <a:srgbClr val="64748B"/>
                </a:solidFill>
              </a:defRPr>
            </a:pPr>
            <a:r>
              <a:rPr dirty="0"/>
              <a:t>Venues automatically display exact distance badges (e.g., '2.5 km away') powered by the Haversine backend query.</a:t>
            </a:r>
          </a:p>
          <a:p>
            <a:pPr>
              <a:spcBef>
                <a:spcPts val="800"/>
              </a:spcBef>
              <a:defRPr sz="1300" b="1">
                <a:solidFill>
                  <a:srgbClr val="1A73E8"/>
                </a:solidFill>
              </a:defRPr>
            </a:pPr>
            <a:r>
              <a:rPr dirty="0"/>
              <a:t>• Sport Filter Chips</a:t>
            </a:r>
          </a:p>
          <a:p>
            <a:pPr>
              <a:defRPr sz="1150">
                <a:solidFill>
                  <a:srgbClr val="64748B"/>
                </a:solidFill>
              </a:defRPr>
            </a:pPr>
            <a:r>
              <a:rPr dirty="0"/>
              <a:t>Instant category switching (Football, Cricket, Badminton, Tennis, Basketball) without page reload.</a:t>
            </a:r>
          </a:p>
          <a:p>
            <a:pPr>
              <a:spcBef>
                <a:spcPts val="800"/>
              </a:spcBef>
              <a:defRPr sz="1300" b="1">
                <a:solidFill>
                  <a:srgbClr val="1A73E8"/>
                </a:solidFill>
              </a:defRPr>
            </a:pPr>
            <a:r>
              <a:rPr dirty="0"/>
              <a:t>• 🌦️ Weather Intelligence (</a:t>
            </a:r>
            <a:r>
              <a:rPr dirty="0" err="1"/>
              <a:t>OpenWeatherMap</a:t>
            </a:r>
            <a:r>
              <a:rPr dirty="0"/>
              <a:t>)</a:t>
            </a:r>
          </a:p>
          <a:p>
            <a:pPr>
              <a:defRPr sz="1150">
                <a:solidFill>
                  <a:srgbClr val="64748B"/>
                </a:solidFill>
              </a:defRPr>
            </a:pPr>
            <a:r>
              <a:rPr dirty="0"/>
              <a:t>Unique feature: For outdoor venues, </a:t>
            </a:r>
            <a:r>
              <a:rPr dirty="0" err="1"/>
              <a:t>Slotit</a:t>
            </a:r>
            <a:r>
              <a:rPr dirty="0"/>
              <a:t> checks real-time forecasts. Displays a prominent warning if rain is predicted to prevent ruined bookings.</a:t>
            </a:r>
          </a:p>
          <a:p>
            <a:pPr>
              <a:spcBef>
                <a:spcPts val="800"/>
              </a:spcBef>
              <a:defRPr sz="1300" b="1">
                <a:solidFill>
                  <a:srgbClr val="1A73E8"/>
                </a:solidFill>
              </a:defRPr>
            </a:pPr>
            <a:r>
              <a:rPr dirty="0"/>
              <a:t>• Visual Photo Gallery</a:t>
            </a:r>
          </a:p>
          <a:p>
            <a:pPr>
              <a:defRPr sz="1150">
                <a:solidFill>
                  <a:srgbClr val="64748B"/>
                </a:solidFill>
              </a:defRPr>
            </a:pPr>
            <a:r>
              <a:rPr dirty="0"/>
              <a:t>Integrated turf photo gallery uploaded by real players and retrieved from MongoDB.</a:t>
            </a:r>
          </a:p>
          <a:p>
            <a:pPr>
              <a:spcBef>
                <a:spcPts val="800"/>
              </a:spcBef>
              <a:defRPr sz="1300" b="1">
                <a:solidFill>
                  <a:srgbClr val="1A73E8"/>
                </a:solidFill>
              </a:defRPr>
            </a:pPr>
            <a:r>
              <a:rPr dirty="0"/>
              <a:t>• Court Tabs &amp; Date Carousel</a:t>
            </a:r>
          </a:p>
          <a:p>
            <a:pPr>
              <a:defRPr sz="1150">
                <a:solidFill>
                  <a:srgbClr val="64748B"/>
                </a:solidFill>
              </a:defRPr>
            </a:pPr>
            <a:r>
              <a:rPr dirty="0"/>
              <a:t>Horizontal 7-day date selector with multi-court tabs for multi-pitch venues.</a:t>
            </a:r>
          </a:p>
        </p:txBody>
      </p:sp>
      <p:pic>
        <p:nvPicPr>
          <p:cNvPr id="22" name="Picture 21" descr="1_login.png">
            <a:extLst>
              <a:ext uri="{FF2B5EF4-FFF2-40B4-BE49-F238E27FC236}">
                <a16:creationId xmlns:a16="http://schemas.microsoft.com/office/drawing/2014/main" id="{87371298-F749-52CA-6BF5-53EFC5FE27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554480"/>
            <a:ext cx="2377440" cy="4663440"/>
          </a:xfrm>
          <a:prstGeom prst="rect">
            <a:avLst/>
          </a:prstGeom>
        </p:spPr>
      </p:pic>
      <p:pic>
        <p:nvPicPr>
          <p:cNvPr id="24" name="Picture 23" descr="5_venue_detail.png">
            <a:extLst>
              <a:ext uri="{FF2B5EF4-FFF2-40B4-BE49-F238E27FC236}">
                <a16:creationId xmlns:a16="http://schemas.microsoft.com/office/drawing/2014/main" id="{2219574E-11E2-6EBF-E74F-5F37AE435D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1554480"/>
            <a:ext cx="237744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8799077-97F9-90C5-14A2-26CAB663CF17}"/>
              </a:ext>
            </a:extLst>
          </p:cNvPr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6683E2-82A6-D898-AE98-A39448BA29C4}"/>
              </a:ext>
            </a:extLst>
          </p:cNvPr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A73E8"/>
                </a:solidFill>
                <a:latin typeface="Calibri"/>
              </a:defRPr>
            </a:pPr>
            <a:r>
              <a:t>UI SHOWCASE 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336EAC-BC77-5EFC-AFCA-BF230642A31C}"/>
              </a:ext>
            </a:extLst>
          </p:cNvPr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2E66"/>
                </a:solidFill>
                <a:latin typeface="Calibri"/>
              </a:defRPr>
            </a:pPr>
            <a:r>
              <a:t>Interactive Slot Selection &amp; Checkout</a:t>
            </a:r>
          </a:p>
        </p:txBody>
      </p:sp>
      <p:sp>
        <p:nvSpPr>
          <p:cNvPr id="9" name="Rounded Rectangle 4">
            <a:extLst>
              <a:ext uri="{FF2B5EF4-FFF2-40B4-BE49-F238E27FC236}">
                <a16:creationId xmlns:a16="http://schemas.microsoft.com/office/drawing/2014/main" id="{61585EB4-D5CF-7203-A681-914553379B41}"/>
              </a:ext>
            </a:extLst>
          </p:cNvPr>
          <p:cNvSpPr/>
          <p:nvPr/>
        </p:nvSpPr>
        <p:spPr>
          <a:xfrm>
            <a:off x="731520" y="1554480"/>
            <a:ext cx="566928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58CC402-4308-F6F1-011D-0CC9A2528B5B}"/>
              </a:ext>
            </a:extLst>
          </p:cNvPr>
          <p:cNvSpPr txBox="1"/>
          <p:nvPr/>
        </p:nvSpPr>
        <p:spPr>
          <a:xfrm>
            <a:off x="914400" y="1691640"/>
            <a:ext cx="5303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2E66"/>
                </a:solidFill>
              </a:defRPr>
            </a:pPr>
            <a:r>
              <a:rPr dirty="0"/>
              <a:t>Real-Time Booking &amp; Concurrency Flow</a:t>
            </a:r>
          </a:p>
          <a:p>
            <a:pPr>
              <a:spcBef>
                <a:spcPts val="1000"/>
              </a:spcBef>
              <a:defRPr sz="1300" b="1">
                <a:solidFill>
                  <a:srgbClr val="1A73E8"/>
                </a:solidFill>
              </a:defRPr>
            </a:pPr>
            <a:r>
              <a:rPr dirty="0"/>
              <a:t>• Color-Coded Slot Grid</a:t>
            </a:r>
          </a:p>
          <a:p>
            <a:pPr>
              <a:defRPr sz="1150">
                <a:solidFill>
                  <a:srgbClr val="64748B"/>
                </a:solidFill>
              </a:defRPr>
            </a:pPr>
            <a:r>
              <a:rPr dirty="0"/>
              <a:t>Available slots show green indicators; booked slots are greyed out; peak hours display a distinctive orange 🔥 Peak badge.</a:t>
            </a:r>
          </a:p>
          <a:p>
            <a:pPr>
              <a:spcBef>
                <a:spcPts val="1000"/>
              </a:spcBef>
              <a:defRPr sz="1300" b="1">
                <a:solidFill>
                  <a:srgbClr val="1A73E8"/>
                </a:solidFill>
              </a:defRPr>
            </a:pPr>
            <a:r>
              <a:rPr dirty="0"/>
              <a:t>• 🔥 HotSlot Dynamic Pricing</a:t>
            </a:r>
          </a:p>
          <a:p>
            <a:pPr>
              <a:defRPr sz="1150">
                <a:solidFill>
                  <a:srgbClr val="64748B"/>
                </a:solidFill>
              </a:defRPr>
            </a:pPr>
            <a:r>
              <a:rPr dirty="0"/>
              <a:t>Slots during peak hours automatically calculate a 1.5x multiplier. Transparent price breakdown on checkout.</a:t>
            </a:r>
          </a:p>
          <a:p>
            <a:pPr>
              <a:spcBef>
                <a:spcPts val="1000"/>
              </a:spcBef>
              <a:defRPr sz="1300" b="1">
                <a:solidFill>
                  <a:srgbClr val="1A73E8"/>
                </a:solidFill>
              </a:defRPr>
            </a:pPr>
            <a:r>
              <a:rPr dirty="0"/>
              <a:t>• Atomic Checkout Experience</a:t>
            </a:r>
          </a:p>
          <a:p>
            <a:pPr>
              <a:defRPr sz="1150">
                <a:solidFill>
                  <a:srgbClr val="64748B"/>
                </a:solidFill>
              </a:defRPr>
            </a:pPr>
            <a:r>
              <a:rPr dirty="0"/>
              <a:t>Summary displays venue, court, exact time, and weather forecast summary. Validates wallet balance before submission.</a:t>
            </a:r>
          </a:p>
          <a:p>
            <a:pPr>
              <a:spcBef>
                <a:spcPts val="1000"/>
              </a:spcBef>
              <a:defRPr sz="1300" b="1">
                <a:solidFill>
                  <a:srgbClr val="1A73E8"/>
                </a:solidFill>
              </a:defRPr>
            </a:pPr>
            <a:r>
              <a:rPr dirty="0"/>
              <a:t>• Visual Slot Lock &amp; Feedback</a:t>
            </a:r>
          </a:p>
          <a:p>
            <a:pPr>
              <a:defRPr sz="1150">
                <a:solidFill>
                  <a:srgbClr val="64748B"/>
                </a:solidFill>
              </a:defRPr>
            </a:pPr>
            <a:r>
              <a:rPr dirty="0"/>
              <a:t>Clicking 'Confirm &amp; Pay' triggers the backend transaction with row-level lock. Displays animated checkmark upon confirmation.</a:t>
            </a:r>
          </a:p>
        </p:txBody>
      </p:sp>
      <p:pic>
        <p:nvPicPr>
          <p:cNvPr id="13" name="Picture 12" descr="5_venue_detail.png">
            <a:extLst>
              <a:ext uri="{FF2B5EF4-FFF2-40B4-BE49-F238E27FC236}">
                <a16:creationId xmlns:a16="http://schemas.microsoft.com/office/drawing/2014/main" id="{5D6BA0FB-E53D-0BDC-4E88-8C14068AC3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554480"/>
            <a:ext cx="2377440" cy="4663440"/>
          </a:xfrm>
          <a:prstGeom prst="rect">
            <a:avLst/>
          </a:prstGeom>
        </p:spPr>
      </p:pic>
      <p:pic>
        <p:nvPicPr>
          <p:cNvPr id="15" name="Picture 14" descr="6_checkout.png">
            <a:extLst>
              <a:ext uri="{FF2B5EF4-FFF2-40B4-BE49-F238E27FC236}">
                <a16:creationId xmlns:a16="http://schemas.microsoft.com/office/drawing/2014/main" id="{50E719AF-5DD7-2C35-3CB8-84C6E36989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1554480"/>
            <a:ext cx="2377440" cy="4663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4845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85FF5C1-B6F8-AE5E-1A43-089CD0DA65D8}"/>
              </a:ext>
            </a:extLst>
          </p:cNvPr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6F9EFE-4368-AD1D-B4EB-1D6717584698}"/>
              </a:ext>
            </a:extLst>
          </p:cNvPr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A73E8"/>
                </a:solidFill>
                <a:latin typeface="Calibri"/>
              </a:defRPr>
            </a:pPr>
            <a:r>
              <a:t>UI SHOWCASE 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B33066-F87F-5D9D-9607-3BF83C484940}"/>
              </a:ext>
            </a:extLst>
          </p:cNvPr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2E66"/>
                </a:solidFill>
                <a:latin typeface="Calibri"/>
              </a:defRPr>
            </a:pPr>
            <a:r>
              <a:t>Player History &amp; Venue Owner Analytics</a:t>
            </a:r>
          </a:p>
        </p:txBody>
      </p:sp>
      <p:sp>
        <p:nvSpPr>
          <p:cNvPr id="9" name="Rounded Rectangle 4">
            <a:extLst>
              <a:ext uri="{FF2B5EF4-FFF2-40B4-BE49-F238E27FC236}">
                <a16:creationId xmlns:a16="http://schemas.microsoft.com/office/drawing/2014/main" id="{65A37CC4-7464-AEB6-08EF-5C5BAC2519B1}"/>
              </a:ext>
            </a:extLst>
          </p:cNvPr>
          <p:cNvSpPr/>
          <p:nvPr/>
        </p:nvSpPr>
        <p:spPr>
          <a:xfrm>
            <a:off x="731520" y="1554480"/>
            <a:ext cx="566928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79621FD-2628-9BCE-572D-4DAC6ED331C8}"/>
              </a:ext>
            </a:extLst>
          </p:cNvPr>
          <p:cNvSpPr txBox="1"/>
          <p:nvPr/>
        </p:nvSpPr>
        <p:spPr>
          <a:xfrm>
            <a:off x="914400" y="1691640"/>
            <a:ext cx="5303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2E66"/>
                </a:solidFill>
              </a:defRPr>
            </a:pPr>
            <a:r>
              <a:t>Operational Analytics &amp; Management</a:t>
            </a:r>
          </a:p>
          <a:p>
            <a:pPr>
              <a:spcBef>
                <a:spcPts val="800"/>
              </a:spcBef>
              <a:defRPr sz="1300" b="1">
                <a:solidFill>
                  <a:srgbClr val="1A73E8"/>
                </a:solidFill>
              </a:defRPr>
            </a:pPr>
            <a:r>
              <a:t>• Player Booking History</a:t>
            </a:r>
          </a:p>
          <a:p>
            <a:pPr>
              <a:defRPr sz="1150">
                <a:solidFill>
                  <a:srgbClr val="64748B"/>
                </a:solidFill>
              </a:defRPr>
            </a:pPr>
            <a:r>
              <a:t>Split tabs for Upcoming and Past bookings. Allows seamless one-click cancellation with automated wallet refunds.</a:t>
            </a:r>
          </a:p>
          <a:p>
            <a:pPr>
              <a:spcBef>
                <a:spcPts val="800"/>
              </a:spcBef>
              <a:defRPr sz="1300" b="1">
                <a:solidFill>
                  <a:srgbClr val="1A73E8"/>
                </a:solidFill>
              </a:defRPr>
            </a:pPr>
            <a:r>
              <a:t>• Gamification &amp; Reviews</a:t>
            </a:r>
          </a:p>
          <a:p>
            <a:pPr>
              <a:defRPr sz="1150">
                <a:solidFill>
                  <a:srgbClr val="64748B"/>
                </a:solidFill>
              </a:defRPr>
            </a:pPr>
            <a:r>
              <a:t>Past games prompt players to rate the turf and track their active booking streak.</a:t>
            </a:r>
          </a:p>
          <a:p>
            <a:pPr>
              <a:spcBef>
                <a:spcPts val="800"/>
              </a:spcBef>
              <a:defRPr sz="1300" b="1">
                <a:solidFill>
                  <a:srgbClr val="1A73E8"/>
                </a:solidFill>
              </a:defRPr>
            </a:pPr>
            <a:r>
              <a:t>• Owner Business Metrics</a:t>
            </a:r>
          </a:p>
          <a:p>
            <a:pPr>
              <a:defRPr sz="1150">
                <a:solidFill>
                  <a:srgbClr val="64748B"/>
                </a:solidFill>
              </a:defRPr>
            </a:pPr>
            <a:r>
              <a:t>Real-time cards calculate: Today's Bookings, 7-Day Revenue (₹), and Pitch Occupancy Rate (%).</a:t>
            </a:r>
          </a:p>
          <a:p>
            <a:pPr>
              <a:spcBef>
                <a:spcPts val="800"/>
              </a:spcBef>
              <a:defRPr sz="1300" b="1">
                <a:solidFill>
                  <a:srgbClr val="1A73E8"/>
                </a:solidFill>
              </a:defRPr>
            </a:pPr>
            <a:r>
              <a:t>• Interactive Revenue Chart (Chart.js)</a:t>
            </a:r>
          </a:p>
          <a:p>
            <a:pPr>
              <a:defRPr sz="1150">
                <a:solidFill>
                  <a:srgbClr val="64748B"/>
                </a:solidFill>
              </a:defRPr>
            </a:pPr>
            <a:r>
              <a:t>Visual bar graph plotting daily revenue trends for owners to identify peak sales days.</a:t>
            </a:r>
          </a:p>
          <a:p>
            <a:pPr>
              <a:spcBef>
                <a:spcPts val="800"/>
              </a:spcBef>
              <a:defRPr sz="1300" b="1">
                <a:solidFill>
                  <a:srgbClr val="1A73E8"/>
                </a:solidFill>
              </a:defRPr>
            </a:pPr>
            <a:r>
              <a:t>• Daily Timeline &amp; Court Management</a:t>
            </a:r>
          </a:p>
          <a:p>
            <a:pPr>
              <a:defRPr sz="1150">
                <a:solidFill>
                  <a:srgbClr val="64748B"/>
                </a:solidFill>
              </a:defRPr>
            </a:pPr>
            <a:r>
              <a:t>Hour-by-hour schedule view and toggles to configure court availability or pricing multipliers.</a:t>
            </a:r>
          </a:p>
        </p:txBody>
      </p:sp>
      <p:pic>
        <p:nvPicPr>
          <p:cNvPr id="13" name="Picture 12" descr="7_my_bookings.png">
            <a:extLst>
              <a:ext uri="{FF2B5EF4-FFF2-40B4-BE49-F238E27FC236}">
                <a16:creationId xmlns:a16="http://schemas.microsoft.com/office/drawing/2014/main" id="{40783D89-2A6D-7438-A5FA-E6CCBA67CA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1554480"/>
            <a:ext cx="2377440" cy="4663440"/>
          </a:xfrm>
          <a:prstGeom prst="rect">
            <a:avLst/>
          </a:prstGeom>
        </p:spPr>
      </p:pic>
      <p:pic>
        <p:nvPicPr>
          <p:cNvPr id="15" name="Picture 14" descr="8_owner_dashboard.png">
            <a:extLst>
              <a:ext uri="{FF2B5EF4-FFF2-40B4-BE49-F238E27FC236}">
                <a16:creationId xmlns:a16="http://schemas.microsoft.com/office/drawing/2014/main" id="{BB4E18A3-AD25-723E-0E89-39FC2A78D7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0" y="1554480"/>
            <a:ext cx="2377440" cy="4663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60562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B99EEB8-078B-3B6C-445F-C42AFB9BCC0F}"/>
              </a:ext>
            </a:extLst>
          </p:cNvPr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EE7AEA-F307-BD1B-1CF8-4797BEC96934}"/>
              </a:ext>
            </a:extLst>
          </p:cNvPr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A73E8"/>
                </a:solidFill>
                <a:latin typeface="Calibri"/>
              </a:defRPr>
            </a:pPr>
            <a:r>
              <a:t>CURRENT STATUS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15F42E-2CB9-6BB7-3E74-BFA9C1B80B8F}"/>
              </a:ext>
            </a:extLst>
          </p:cNvPr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2E66"/>
                </a:solidFill>
                <a:latin typeface="Calibri"/>
              </a:defRPr>
            </a:pPr>
            <a:r>
              <a:t>Deliverables &amp; Implementation Status</a:t>
            </a:r>
          </a:p>
        </p:txBody>
      </p:sp>
      <p:sp>
        <p:nvSpPr>
          <p:cNvPr id="9" name="Rounded Rectangle 4">
            <a:extLst>
              <a:ext uri="{FF2B5EF4-FFF2-40B4-BE49-F238E27FC236}">
                <a16:creationId xmlns:a16="http://schemas.microsoft.com/office/drawing/2014/main" id="{E0806FDC-2BE0-EB57-12F8-3E9B6B5BD75F}"/>
              </a:ext>
            </a:extLst>
          </p:cNvPr>
          <p:cNvSpPr/>
          <p:nvPr/>
        </p:nvSpPr>
        <p:spPr>
          <a:xfrm>
            <a:off x="731520" y="1554480"/>
            <a:ext cx="3383280" cy="3931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1EC1148-0B85-3D68-2389-B6BE2BFF0775}"/>
              </a:ext>
            </a:extLst>
          </p:cNvPr>
          <p:cNvSpPr/>
          <p:nvPr/>
        </p:nvSpPr>
        <p:spPr>
          <a:xfrm>
            <a:off x="731520" y="1554480"/>
            <a:ext cx="3383280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1C003F9-0BE3-E48A-EA52-1F7633FF3E7B}"/>
              </a:ext>
            </a:extLst>
          </p:cNvPr>
          <p:cNvSpPr txBox="1"/>
          <p:nvPr/>
        </p:nvSpPr>
        <p:spPr>
          <a:xfrm>
            <a:off x="914400" y="178308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2E66"/>
                </a:solidFill>
              </a:defRPr>
            </a:pPr>
            <a:r>
              <a:t>Database Layer</a:t>
            </a:r>
          </a:p>
          <a:p>
            <a:pPr>
              <a:spcBef>
                <a:spcPts val="1400"/>
              </a:spcBef>
              <a:defRPr sz="1300">
                <a:solidFill>
                  <a:srgbClr val="1E293B"/>
                </a:solidFill>
              </a:defRPr>
            </a:pPr>
            <a:r>
              <a:t>✅ 10 Relational Tables created</a:t>
            </a:r>
            <a:br/>
            <a:r>
              <a:t>✅ 3NF Normalization verified</a:t>
            </a:r>
            <a:br/>
            <a:r>
              <a:t>✅ Foreign Key Constraints &amp; Indexes</a:t>
            </a:r>
            <a:br/>
            <a:r>
              <a:t>✅ Kollam Seed Dataset (5 Venues, 10 Courts)</a:t>
            </a:r>
            <a:br/>
            <a:r>
              <a:t>✅ MongoDB Collections configured</a:t>
            </a:r>
            <a:br/>
            <a:r>
              <a:t>✅ Concurrency Simulation script tested</a:t>
            </a:r>
          </a:p>
        </p:txBody>
      </p:sp>
      <p:sp>
        <p:nvSpPr>
          <p:cNvPr id="15" name="Rounded Rectangle 7">
            <a:extLst>
              <a:ext uri="{FF2B5EF4-FFF2-40B4-BE49-F238E27FC236}">
                <a16:creationId xmlns:a16="http://schemas.microsoft.com/office/drawing/2014/main" id="{CE0FDD58-2B35-3048-F227-7758B064F3F1}"/>
              </a:ext>
            </a:extLst>
          </p:cNvPr>
          <p:cNvSpPr/>
          <p:nvPr/>
        </p:nvSpPr>
        <p:spPr>
          <a:xfrm>
            <a:off x="4389120" y="1554480"/>
            <a:ext cx="3383280" cy="3931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1C4D65F-D85B-A9ED-D9C9-61857FEB1C50}"/>
              </a:ext>
            </a:extLst>
          </p:cNvPr>
          <p:cNvSpPr/>
          <p:nvPr/>
        </p:nvSpPr>
        <p:spPr>
          <a:xfrm>
            <a:off x="4389120" y="1554480"/>
            <a:ext cx="3383280" cy="109728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C7A5171-E277-9613-3B5A-97F352C6F515}"/>
              </a:ext>
            </a:extLst>
          </p:cNvPr>
          <p:cNvSpPr txBox="1"/>
          <p:nvPr/>
        </p:nvSpPr>
        <p:spPr>
          <a:xfrm>
            <a:off x="4572000" y="178308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2E66"/>
                </a:solidFill>
              </a:defRPr>
            </a:pPr>
            <a:r>
              <a:t>Backend API (Java JDBC)</a:t>
            </a:r>
          </a:p>
          <a:p>
            <a:pPr>
              <a:spcBef>
                <a:spcPts val="1400"/>
              </a:spcBef>
              <a:defRPr sz="1300">
                <a:solidFill>
                  <a:srgbClr val="1E293B"/>
                </a:solidFill>
              </a:defRPr>
            </a:pPr>
            <a:r>
              <a:t>✅ DBConnection Singleton pool</a:t>
            </a:r>
            <a:br/>
            <a:r>
              <a:t>✅ BookingDAO Transaction Engine</a:t>
            </a:r>
            <a:br/>
            <a:r>
              <a:t>✅ Pessimistic Row Locking</a:t>
            </a:r>
            <a:br/>
            <a:r>
              <a:t>✅ SlotDAO &amp; VenueDAO</a:t>
            </a:r>
            <a:br/>
            <a:r>
              <a:t>✅ 5 Servlets configured (/api/*)</a:t>
            </a:r>
            <a:br/>
            <a:r>
              <a:t>✅ SHA-256 Auth &amp; Session Security</a:t>
            </a:r>
          </a:p>
        </p:txBody>
      </p:sp>
      <p:sp>
        <p:nvSpPr>
          <p:cNvPr id="21" name="Rounded Rectangle 10">
            <a:extLst>
              <a:ext uri="{FF2B5EF4-FFF2-40B4-BE49-F238E27FC236}">
                <a16:creationId xmlns:a16="http://schemas.microsoft.com/office/drawing/2014/main" id="{AB50BF91-2414-DE07-23D8-1B20FB7F8AC1}"/>
              </a:ext>
            </a:extLst>
          </p:cNvPr>
          <p:cNvSpPr/>
          <p:nvPr/>
        </p:nvSpPr>
        <p:spPr>
          <a:xfrm>
            <a:off x="8046720" y="1554480"/>
            <a:ext cx="3383280" cy="3931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48E9B99-6DA7-3056-8A84-A35A4C9DBD53}"/>
              </a:ext>
            </a:extLst>
          </p:cNvPr>
          <p:cNvSpPr/>
          <p:nvPr/>
        </p:nvSpPr>
        <p:spPr>
          <a:xfrm>
            <a:off x="8046720" y="1554480"/>
            <a:ext cx="3383280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96928E0-2197-46CC-F5CD-D4E298AC4CF7}"/>
              </a:ext>
            </a:extLst>
          </p:cNvPr>
          <p:cNvSpPr txBox="1"/>
          <p:nvPr/>
        </p:nvSpPr>
        <p:spPr>
          <a:xfrm>
            <a:off x="8229600" y="178308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2E66"/>
                </a:solidFill>
              </a:defRPr>
            </a:pPr>
            <a:r>
              <a:t>Frontend Mobile UI</a:t>
            </a:r>
          </a:p>
          <a:p>
            <a:pPr>
              <a:spcBef>
                <a:spcPts val="1400"/>
              </a:spcBef>
              <a:defRPr sz="1300">
                <a:solidFill>
                  <a:srgbClr val="1E293B"/>
                </a:solidFill>
              </a:defRPr>
            </a:pPr>
            <a:r>
              <a:t>✅ 9 Responsive HTML5 Screens</a:t>
            </a:r>
            <a:br/>
            <a:r>
              <a:t>✅ Unified Clean Light Theme (#1a73e8)</a:t>
            </a:r>
            <a:br/>
            <a:r>
              <a:t>✅ GPS Geolocation integration</a:t>
            </a:r>
            <a:br/>
            <a:r>
              <a:t>✅ OpenWeatherMap rain forecast</a:t>
            </a:r>
            <a:br/>
            <a:r>
              <a:t>✅ Chart.js Revenue Dashboard</a:t>
            </a:r>
            <a:br/>
            <a:r>
              <a:t>✅ Ready for Android WebView packaging</a:t>
            </a:r>
          </a:p>
        </p:txBody>
      </p:sp>
    </p:spTree>
    <p:extLst>
      <p:ext uri="{BB962C8B-B14F-4D97-AF65-F5344CB8AC3E}">
        <p14:creationId xmlns:p14="http://schemas.microsoft.com/office/powerpoint/2010/main" val="3927524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0" y="0"/>
            <a:ext cx="54864" cy="685800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457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73E8"/>
                </a:solidFill>
                <a:latin typeface="Calibri"/>
              </a:defRPr>
            </a:pPr>
            <a:r>
              <a:t>12  DEPLOYMENT &amp; 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A1A2E"/>
                </a:solidFill>
                <a:latin typeface="Calibri"/>
              </a:defRPr>
            </a:pPr>
            <a:r>
              <a:t>Live Server Setup &amp; Verification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920240"/>
            <a:ext cx="411480" cy="41148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93852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938528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D3A4A"/>
                </a:solidFill>
                <a:latin typeface="Calibri"/>
              </a:defRPr>
            </a:pPr>
            <a:r>
              <a:t>MySQL 8.0 Seeded Data: 17 venues (Kollam, Kochi, Trivandrum, Calicut), 34 courts, and 2,618 time slots.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788920"/>
            <a:ext cx="411480" cy="41148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280720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807208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D3A4A"/>
                </a:solidFill>
                <a:latin typeface="Calibri"/>
              </a:defRPr>
            </a:pPr>
            <a:r>
              <a:t>Tomcat 9 Deployment: Packaged as Slotit.war with Maven and hosted on port 8085.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657600"/>
            <a:ext cx="411480" cy="41148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3675887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675887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D3A4A"/>
                </a:solidFill>
                <a:latin typeface="Calibri"/>
              </a:defRPr>
            </a:pPr>
            <a:r>
              <a:t>One-Click Launcher (Start_Slotit_Server.bat): Starts MySQL, opens Firewall port 8085, and starts Tomcat.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526279"/>
            <a:ext cx="411480" cy="41148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4544567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544567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D3A4A"/>
                </a:solidFill>
                <a:latin typeface="Calibri"/>
              </a:defRPr>
            </a:pPr>
            <a:r>
              <a:t>Mobile PWA Installation: Accessed over Wi-Fi on phone browser and installed via Add to Home Screen.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394960"/>
            <a:ext cx="411480" cy="41148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" y="541324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5413248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D3A4A"/>
                </a:solidFill>
                <a:latin typeface="Calibri"/>
              </a:defRPr>
            </a:pPr>
            <a:r>
              <a:t>Concurrency Verified: Two-session test confirmed only 1 booking succeeds per slot; second gets HTTP 409.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0" y="18288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2D3A4A"/>
                </a:solidFill>
                <a:latin typeface="Calibri"/>
              </a:defRPr>
            </a:pPr>
            <a:r>
              <a:t>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0D47A1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45720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F6B7A"/>
                </a:solidFill>
                <a:latin typeface="Calibri"/>
              </a:defRPr>
            </a:pPr>
            <a:r>
              <a:t>Slotit — Sports Venue Booking &amp; Tournament Management 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rchway">
  <a:themeElements>
    <a:clrScheme name="Archway">
      <a:dk1>
        <a:sysClr val="windowText" lastClr="000000"/>
      </a:dk1>
      <a:lt1>
        <a:sysClr val="window" lastClr="FFFFFF"/>
      </a:lt1>
      <a:dk2>
        <a:srgbClr val="424C4E"/>
      </a:dk2>
      <a:lt2>
        <a:srgbClr val="EDE9E7"/>
      </a:lt2>
      <a:accent1>
        <a:srgbClr val="9FA597"/>
      </a:accent1>
      <a:accent2>
        <a:srgbClr val="AEA67E"/>
      </a:accent2>
      <a:accent3>
        <a:srgbClr val="957D71"/>
      </a:accent3>
      <a:accent4>
        <a:srgbClr val="C88769"/>
      </a:accent4>
      <a:accent5>
        <a:srgbClr val="97A4AA"/>
      </a:accent5>
      <a:accent6>
        <a:srgbClr val="9FA4A5"/>
      </a:accent6>
      <a:hlink>
        <a:srgbClr val="8C9484"/>
      </a:hlink>
      <a:folHlink>
        <a:srgbClr val="C17957"/>
      </a:folHlink>
    </a:clrScheme>
    <a:fontScheme name="Archway">
      <a:majorFont>
        <a:latin typeface="Felix Titling"/>
        <a:ea typeface=""/>
        <a:cs typeface=""/>
      </a:majorFont>
      <a:minorFont>
        <a:latin typeface="Goudy Old Styl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rchway" id="{CCBE687C-D9F1-4254-B066-5079611C2397}" vid="{9D57D580-D4A7-454F-BF49-8DDDB4A8185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Archway</Template>
  <TotalTime>248</TotalTime>
  <Words>1922</Words>
  <Application>Microsoft Office PowerPoint</Application>
  <PresentationFormat>Widescreen</PresentationFormat>
  <Paragraphs>227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Felix Titling</vt:lpstr>
      <vt:lpstr>Goudy Old Style</vt:lpstr>
      <vt:lpstr>Archway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Ebin Biju Abraham</cp:lastModifiedBy>
  <cp:revision>8</cp:revision>
  <dcterms:created xsi:type="dcterms:W3CDTF">2013-01-27T09:14:16Z</dcterms:created>
  <dcterms:modified xsi:type="dcterms:W3CDTF">2026-10-23T17:43:04Z</dcterms:modified>
  <cp:category/>
</cp:coreProperties>
</file>